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713232" y="566928"/>
            <a:ext cx="2331720" cy="32918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03504"/>
            <a:ext cx="225856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venir Next"/>
              </a:rPr>
              <a:t>Cprime's next scalable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170432"/>
            <a:ext cx="5669280" cy="6583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4700" b="1">
                <a:solidFill>
                  <a:srgbClr val="FFFFFF"/>
                </a:solidFill>
                <a:latin typeface="Avenir Next"/>
              </a:rPr>
              <a:t>Ctrl+Teach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6656" y="1883664"/>
            <a:ext cx="5486400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venir Next"/>
              </a:rPr>
              <a:t>Cprime's expertise,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2414016"/>
            <a:ext cx="5486400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400" b="1">
                <a:solidFill>
                  <a:srgbClr val="22D3EE"/>
                </a:solidFill>
                <a:latin typeface="Avenir Next"/>
              </a:rPr>
              <a:t>turned into a product.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3182112"/>
            <a:ext cx="5440680" cy="8229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50" b="0">
                <a:solidFill>
                  <a:srgbClr val="DDEBFF"/>
                </a:solidFill>
                <a:latin typeface="Avenir Next"/>
              </a:rPr>
              <a:t>Personalized courses on demand — with a tutor that stays beside every learner until they can do the work.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4315968"/>
            <a:ext cx="5166360" cy="1078992"/>
          </a:xfrm>
          <a:prstGeom prst="roundRect">
            <a:avLst/>
          </a:prstGeom>
          <a:solidFill>
            <a:srgbClr val="172033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553712"/>
            <a:ext cx="475488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00" b="1">
                <a:solidFill>
                  <a:srgbClr val="FFF7ED"/>
                </a:solidFill>
                <a:latin typeface="Avenir Next"/>
              </a:rPr>
              <a:t>Build once. Improve continuously. Sell repeatedly.
But that’s not the best part — every learner gets TARS.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914400"/>
            <a:ext cx="512064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766060"/>
            <a:ext cx="4663440" cy="6583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Avenir Next"/>
              </a:rPr>
              <a:t>HERO SCREENSHOT: TARS BESIDE THE CURSOR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48272" y="3479292"/>
            <a:ext cx="4425696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venir Next"/>
              </a:rPr>
              <a:t>Paste your strongest product screenshot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venir Next"/>
              </a:rPr>
              <a:t>The uncomfortable bottleneck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42416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50" b="0">
                <a:solidFill>
                  <a:srgbClr val="64748B"/>
                </a:solidFill>
                <a:latin typeface="Avenir Next"/>
              </a:rPr>
              <a:t>Cprime's expertise is valuable. But when every new cohort needs another trainer, schedule, and delivery cycle, growth stays capped.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74519"/>
            <a:ext cx="425196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FB7185"/>
                </a:solidFill>
                <a:latin typeface="Avenir Next"/>
              </a:rPr>
              <a:t>Today: expertise tied to hours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1874519"/>
            <a:ext cx="470916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200" b="1">
                <a:solidFill>
                  <a:srgbClr val="2563EB"/>
                </a:solidFill>
                <a:latin typeface="Avenir Next"/>
              </a:rPr>
              <a:t>With Ctrl+Teach: expertise becomes product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9808" y="2514600"/>
            <a:ext cx="416052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051560" y="2935224"/>
            <a:ext cx="118872" cy="118872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89304" y="2862072"/>
            <a:ext cx="323697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Avenir Next"/>
              </a:rPr>
              <a:t>Growth depends on trainer availability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51560" y="3374136"/>
            <a:ext cx="118872" cy="118872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9304" y="3300984"/>
            <a:ext cx="323697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Avenir Next"/>
              </a:rPr>
              <a:t>The same expertise is delivered again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" y="3813047"/>
            <a:ext cx="118872" cy="118872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89304" y="3739896"/>
            <a:ext cx="323697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Avenir Next"/>
              </a:rPr>
              <a:t>Tools change before courses catch 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51560" y="4251959"/>
            <a:ext cx="118872" cy="118872"/>
          </a:xfrm>
          <a:prstGeom prst="round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89304" y="4178808"/>
            <a:ext cx="323697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Avenir Next"/>
              </a:rPr>
              <a:t>Group classes split individual attention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05272" y="3182112"/>
            <a:ext cx="731520" cy="5486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4500" b="1">
                <a:solidFill>
                  <a:srgbClr val="2563EB"/>
                </a:solidFill>
                <a:latin typeface="Avenir Next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92240" y="2514600"/>
            <a:ext cx="45262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12280" y="2935224"/>
            <a:ext cx="118872" cy="1188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50024" y="2862072"/>
            <a:ext cx="355701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Avenir Next"/>
              </a:rPr>
              <a:t>One learning product reaches thousands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12280" y="3374136"/>
            <a:ext cx="118872" cy="1188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50024" y="3300984"/>
            <a:ext cx="355701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Avenir Next"/>
              </a:rPr>
              <a:t>Update once and everyone benefits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12280" y="3813047"/>
            <a:ext cx="118872" cy="1188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50024" y="3739896"/>
            <a:ext cx="355701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Avenir Next"/>
              </a:rPr>
              <a:t>Every learner gets personal support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12280" y="4251959"/>
            <a:ext cx="118872" cy="1188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50024" y="4178808"/>
            <a:ext cx="355701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50" b="0">
                <a:solidFill>
                  <a:srgbClr val="334155"/>
                </a:solidFill>
                <a:latin typeface="Avenir Next"/>
              </a:rPr>
              <a:t>Value grows without matching headcount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17320" y="5623560"/>
            <a:ext cx="9372600" cy="594360"/>
          </a:xfrm>
          <a:prstGeom prst="round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5779008"/>
            <a:ext cx="909828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900" b="1">
                <a:solidFill>
                  <a:srgbClr val="FFFFFF"/>
                </a:solidFill>
                <a:latin typeface="Avenir Next"/>
              </a:rPr>
              <a:t>Every new learner should create leverage — not another delivery burden.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venir Next"/>
              </a:rPr>
              <a:t>Build once. Improve continuously. Sell repeatedly.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42416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50" b="0">
                <a:solidFill>
                  <a:srgbClr val="64748B"/>
                </a:solidFill>
                <a:latin typeface="Avenir Next"/>
              </a:rPr>
              <a:t>Ctrl+Teach turns Cprime's learning expertise into software that becomes more useful with every learner.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572768"/>
            <a:ext cx="251460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572768"/>
            <a:ext cx="73152" cy="138988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77824" y="1773936"/>
            <a:ext cx="2103120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venir Next"/>
              </a:rPr>
              <a:t>Generated on demand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7824" y="2249424"/>
            <a:ext cx="2130552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venir Next"/>
              </a:rPr>
              <a:t>Create complete courses around the learner's actual goal — without weeks of manual production.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46704" y="1572768"/>
            <a:ext cx="251460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46704" y="1572768"/>
            <a:ext cx="73152" cy="138988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6160" y="1773936"/>
            <a:ext cx="2103120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F97316"/>
                </a:solidFill>
                <a:latin typeface="Avenir Next"/>
              </a:rPr>
              <a:t>Beautiful and credible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249424"/>
            <a:ext cx="2130552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venir Next"/>
              </a:rPr>
              <a:t>Rich visuals and trustworthy sources make the content feel polished, current, and worth learning from.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182112"/>
            <a:ext cx="251460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3182112"/>
            <a:ext cx="73152" cy="138988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7824" y="3383280"/>
            <a:ext cx="2103120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8B5CF6"/>
                </a:solidFill>
                <a:latin typeface="Avenir Next"/>
              </a:rPr>
              <a:t>Built for practice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3858768"/>
            <a:ext cx="2130552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venir Next"/>
              </a:rPr>
              <a:t>Quizzes, examples, and real browser labs move learners from knowing to doing.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46704" y="3182112"/>
            <a:ext cx="251460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346704" y="3182112"/>
            <a:ext cx="73152" cy="1389888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3383280"/>
            <a:ext cx="2103120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2C55E"/>
                </a:solidFill>
                <a:latin typeface="Avenir Next"/>
              </a:rPr>
              <a:t>Personal over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3858768"/>
            <a:ext cx="2130552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venir Next"/>
              </a:rPr>
              <a:t>Learner memories shape the next explanation, analogy, and course around how that person thinks.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640" y="1554480"/>
            <a:ext cx="525780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223260"/>
            <a:ext cx="4800600" cy="6583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Avenir Next"/>
              </a:rPr>
              <a:t>SCREENSHOT: GENERATED COURSE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11112" y="3936492"/>
            <a:ext cx="4562856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venir Next"/>
              </a:rPr>
              <a:t>Paste a course page showing visuals, sources, quizzes, or labs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1248" y="5074920"/>
            <a:ext cx="4709160" cy="822960"/>
          </a:xfrm>
          <a:prstGeom prst="round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4128" y="5321808"/>
            <a:ext cx="434340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550" b="1">
                <a:solidFill>
                  <a:srgbClr val="FFFFFF"/>
                </a:solidFill>
                <a:latin typeface="Avenir Next"/>
              </a:rPr>
              <a:t>One engine. Thousands of personalized learning journeys.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venir Next"/>
              </a:rPr>
              <a:t>The AWS moment we all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42416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50" b="0">
                <a:solidFill>
                  <a:srgbClr val="64748B"/>
                </a:solidFill>
                <a:latin typeface="Avenir Next"/>
              </a:rPr>
              <a:t>Day one: create an EC2 instance and deploy the app. The trainer showed it once — then we had to do it ourselves.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664208"/>
            <a:ext cx="3749039" cy="1188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13232" y="1664208"/>
            <a:ext cx="73152" cy="1188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65376"/>
            <a:ext cx="3337559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F97316"/>
                </a:solidFill>
                <a:latin typeface="Avenir Next"/>
              </a:rPr>
              <a:t>What happened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340864"/>
            <a:ext cx="3364991" cy="3657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venir Next"/>
              </a:rPr>
              <a:t>We forgot where to click and kept jumping between ChatGPT and AWS.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3090672"/>
            <a:ext cx="3749039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13232" y="3090672"/>
            <a:ext cx="73152" cy="1508760"/>
          </a:xfrm>
          <a:prstGeom prst="rect">
            <a:avLst/>
          </a:prstGeom>
          <a:solidFill>
            <a:srgbClr val="FB71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291840"/>
            <a:ext cx="3337559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FB7185"/>
                </a:solidFill>
                <a:latin typeface="Avenir Next"/>
              </a:rPr>
              <a:t>Why normal AI failed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767328"/>
            <a:ext cx="3364991" cy="685799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venir Next"/>
              </a:rPr>
              <a:t>It said the button was “top left.” AWS had changed the UI. We were still stuck.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13232" y="4828032"/>
            <a:ext cx="3749039" cy="12070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13232" y="4828032"/>
            <a:ext cx="73152" cy="120700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5029200"/>
            <a:ext cx="3337559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venir Next"/>
              </a:rPr>
              <a:t>The TARS version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504688"/>
            <a:ext cx="3364991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venir Next"/>
              </a:rPr>
              <a:t>Hold Ctrl, point at the screen, and ask. TARS sees this exact screen and points to the right place.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83480" y="1517904"/>
            <a:ext cx="6355080" cy="455371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12080" y="3291840"/>
            <a:ext cx="5897880" cy="6583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Avenir Next"/>
              </a:rPr>
              <a:t>SCREENSHOT: TARS POINTING INSIDE AWS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0952" y="4005072"/>
            <a:ext cx="5660136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venir Next"/>
              </a:rPr>
              <a:t>Paste the real EC2 guidance moment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venir Next"/>
              </a:rPr>
              <a:t>But that’s not the best part.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42416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50" b="0">
                <a:solidFill>
                  <a:srgbClr val="CBD5E1"/>
                </a:solidFill>
                <a:latin typeface="Avenir Next"/>
              </a:rPr>
              <a:t>Every course comes with TARS — a small AI tutor that lives beside your cursor.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691640"/>
            <a:ext cx="4389120" cy="42976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3749039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venir Next"/>
              </a:rPr>
              <a:t>When the learner gets stuck: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78992" y="2633472"/>
            <a:ext cx="118872" cy="1188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6736" y="2560320"/>
            <a:ext cx="323697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20" b="0">
                <a:solidFill>
                  <a:srgbClr val="DDEBFF"/>
                </a:solidFill>
                <a:latin typeface="Avenir Next"/>
              </a:rPr>
              <a:t>hold Ctrl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78992" y="3072384"/>
            <a:ext cx="118872" cy="1188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16736" y="2999232"/>
            <a:ext cx="323697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20" b="0">
                <a:solidFill>
                  <a:srgbClr val="DDEBFF"/>
                </a:solidFill>
                <a:latin typeface="Avenir Next"/>
              </a:rPr>
              <a:t>point, circle, or underline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78992" y="3511296"/>
            <a:ext cx="118872" cy="1188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16736" y="3438144"/>
            <a:ext cx="323697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20" b="0">
                <a:solidFill>
                  <a:srgbClr val="DDEBFF"/>
                </a:solidFill>
                <a:latin typeface="Avenir Next"/>
              </a:rPr>
              <a:t>ask out loud or type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78992" y="3950207"/>
            <a:ext cx="118872" cy="1188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16736" y="3877056"/>
            <a:ext cx="323697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20" b="0">
                <a:solidFill>
                  <a:srgbClr val="DDEBFF"/>
                </a:solidFill>
                <a:latin typeface="Avenir Next"/>
              </a:rPr>
              <a:t>TARS answers in context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8992" y="4754880"/>
            <a:ext cx="3566160" cy="65836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70432" y="4937760"/>
            <a:ext cx="3383280" cy="2011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venir Next"/>
              </a:rPr>
              <a:t>“Where do I click now?”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1600200"/>
            <a:ext cx="544068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0" y="3360420"/>
            <a:ext cx="4983480" cy="6583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Avenir Next"/>
              </a:rPr>
              <a:t>SCREENSHOT: TARS BESIDE THE CURSOR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71032" y="4073652"/>
            <a:ext cx="4745736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venir Next"/>
              </a:rPr>
              <a:t>Paste your floating TARS UI here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venir Next"/>
              </a:rPr>
              <a:t>TARS doesn’t just answer. It sees, shows, and acts.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42416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50" b="0">
                <a:solidFill>
                  <a:srgbClr val="64748B"/>
                </a:solidFill>
                <a:latin typeface="Avenir Next"/>
              </a:rPr>
              <a:t>Use the four spaces below for real product screenshots — one clear capability per frame.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481328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1792" y="1481328"/>
            <a:ext cx="73152" cy="21488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709928"/>
            <a:ext cx="2176272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650" b="1">
                <a:solidFill>
                  <a:srgbClr val="2563EB"/>
                </a:solidFill>
                <a:latin typeface="Avenir Next"/>
              </a:rPr>
              <a:t>Points exactly where to click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322576"/>
            <a:ext cx="2176272" cy="8686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Avenir Next"/>
              </a:rPr>
              <a:t>No vague directions. TARS grounds the answer to the learner’s exact screen.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55264" y="1709928"/>
            <a:ext cx="2514600" cy="16824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83864" y="2048256"/>
            <a:ext cx="2057400" cy="6583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venir Next"/>
              </a:rPr>
              <a:t>POINTING SCREENSHOT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2736" y="2761488"/>
            <a:ext cx="1819656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venir Next"/>
              </a:rPr>
              <a:t>Paste image here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28231" y="1481328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28231" y="1481328"/>
            <a:ext cx="73152" cy="21488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56831" y="1709928"/>
            <a:ext cx="2176272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650" b="1">
                <a:solidFill>
                  <a:srgbClr val="F97316"/>
                </a:solidFill>
                <a:latin typeface="Avenir Next"/>
              </a:rPr>
              <a:t>Draws over the screen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56831" y="2322576"/>
            <a:ext cx="2176272" cy="8686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Avenir Next"/>
              </a:rPr>
              <a:t>It sketches, underlines, and circles directly over the browser.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61704" y="1709928"/>
            <a:ext cx="2514600" cy="16824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0304" y="2048256"/>
            <a:ext cx="2057400" cy="6583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venir Next"/>
              </a:rPr>
              <a:t>DRAWING SCREENSHOT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09176" y="2761488"/>
            <a:ext cx="1819656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venir Next"/>
              </a:rPr>
              <a:t>Paste image here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" y="388620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" y="3886200"/>
            <a:ext cx="73152" cy="2148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0392" y="4114800"/>
            <a:ext cx="2176272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650" b="1">
                <a:solidFill>
                  <a:srgbClr val="8B5CF6"/>
                </a:solidFill>
                <a:latin typeface="Avenir Next"/>
              </a:rPr>
              <a:t>Understands what you circle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727448"/>
            <a:ext cx="2176272" cy="8686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Avenir Next"/>
              </a:rPr>
              <a:t>Hold Ctrl and mark a region. TARS knows what you mean.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255264" y="4114800"/>
            <a:ext cx="2514600" cy="16824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83864" y="4453128"/>
            <a:ext cx="2057400" cy="6583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venir Next"/>
              </a:rPr>
              <a:t>CTRL + CIRCLE SCREENSHOT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02736" y="5166360"/>
            <a:ext cx="1819656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venir Next"/>
              </a:rPr>
              <a:t>Paste image here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28231" y="3886200"/>
            <a:ext cx="544068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28231" y="3886200"/>
            <a:ext cx="73152" cy="21488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56831" y="4114800"/>
            <a:ext cx="2176272" cy="47548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650" b="1">
                <a:solidFill>
                  <a:srgbClr val="22C55E"/>
                </a:solidFill>
                <a:latin typeface="Avenir Next"/>
              </a:rPr>
              <a:t>Takes browser actions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56831" y="4727448"/>
            <a:ext cx="2176272" cy="8686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150" b="0">
                <a:solidFill>
                  <a:srgbClr val="334155"/>
                </a:solidFill>
                <a:latin typeface="Avenir Next"/>
              </a:rPr>
              <a:t>It can scroll, switch tabs, navigate, and guide multi-step workflows.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61704" y="4114800"/>
            <a:ext cx="2514600" cy="168249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0304" y="4453128"/>
            <a:ext cx="2057400" cy="6583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300" b="1">
                <a:solidFill>
                  <a:srgbClr val="2563EB"/>
                </a:solidFill>
                <a:latin typeface="Avenir Next"/>
              </a:rPr>
              <a:t>BROWSER ACTION SCREENSHOT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09176" y="5166360"/>
            <a:ext cx="1819656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venir Next"/>
              </a:rPr>
              <a:t>Paste image here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venir Next"/>
              </a:rPr>
              <a:t>The Ctrl gesture is the magic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42416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50" b="0">
                <a:solidFill>
                  <a:srgbClr val="CBD5E1"/>
                </a:solidFill>
                <a:latin typeface="Avenir Next"/>
              </a:rPr>
              <a:t>Instead of describing the UI in words, the learner can simply refer to the screen.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600200"/>
            <a:ext cx="4800600" cy="4526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874519"/>
            <a:ext cx="4023360" cy="3657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400" b="1">
                <a:solidFill>
                  <a:srgbClr val="22D3EE"/>
                </a:solidFill>
                <a:latin typeface="Avenir Next"/>
              </a:rPr>
              <a:t>Hold Ctrl + point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450592"/>
            <a:ext cx="4069080" cy="9601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50" b="0">
                <a:solidFill>
                  <a:srgbClr val="E2E8F0"/>
                </a:solidFill>
                <a:latin typeface="Avenir Next"/>
              </a:rPr>
              <a:t>TARS understands the exact part of the screen you mean and answers in context — no screenshots, no guessing, no stale directions.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675887"/>
            <a:ext cx="3840480" cy="2743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venir Next"/>
              </a:rPr>
              <a:t>Why it matters: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215383"/>
            <a:ext cx="118872" cy="1188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35024" y="4142232"/>
            <a:ext cx="360273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DDEBFF"/>
                </a:solidFill>
                <a:latin typeface="Avenir Next"/>
              </a:rPr>
              <a:t>No screenshot upload loop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4654295"/>
            <a:ext cx="118872" cy="1188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35024" y="4581144"/>
            <a:ext cx="360273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DDEBFF"/>
                </a:solidFill>
                <a:latin typeface="Avenir Next"/>
              </a:rPr>
              <a:t>No stale “top left button” advice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5093207"/>
            <a:ext cx="118872" cy="118872"/>
          </a:xfrm>
          <a:prstGeom prst="roundRect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35024" y="5020056"/>
            <a:ext cx="3602736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400" b="0">
                <a:solidFill>
                  <a:srgbClr val="DDEBFF"/>
                </a:solidFill>
                <a:latin typeface="Avenir Next"/>
              </a:rPr>
              <a:t>No guessing what the learner meant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600200"/>
            <a:ext cx="4983480" cy="45262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360420"/>
            <a:ext cx="4526280" cy="6583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Avenir Next"/>
              </a:rPr>
              <a:t>SCREENSHOT: CTRL TRAIL + REGION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9672" y="4073652"/>
            <a:ext cx="4288536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venir Next"/>
              </a:rPr>
              <a:t>Show the fading trail and the selected area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venir Next"/>
              </a:rPr>
              <a:t>Learning does not stop when the lesson 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42416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50" b="0">
                <a:solidFill>
                  <a:srgbClr val="64748B"/>
                </a:solidFill>
                <a:latin typeface="Avenir Next"/>
              </a:rPr>
              <a:t>TARS stays while the learner implements what they just learned inside the real platform.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08760"/>
            <a:ext cx="6035040" cy="43434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3177540"/>
            <a:ext cx="5577840" cy="6583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Avenir Next"/>
              </a:rPr>
              <a:t>SCREENSHOT: REAL BROWSER LAB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" y="3890772"/>
            <a:ext cx="5340096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venir Next"/>
              </a:rPr>
              <a:t>Paste the AWS, Jira, GitHub, ServiceNow, or Power BI lab 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627632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132320" y="1627632"/>
            <a:ext cx="73152" cy="1234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51775" y="1828800"/>
            <a:ext cx="3749039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F97316"/>
                </a:solidFill>
                <a:latin typeface="Avenir Next"/>
              </a:rPr>
              <a:t>Practice for 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51775" y="2304288"/>
            <a:ext cx="3776472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venir Next"/>
              </a:rPr>
              <a:t>Open the actual platform and complete the real workflow — not a fake simulation.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0" y="3127248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3127248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51775" y="3328416"/>
            <a:ext cx="3749039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venir Next"/>
              </a:rPr>
              <a:t>TARS watches closely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51775" y="3803904"/>
            <a:ext cx="3776472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venir Next"/>
              </a:rPr>
              <a:t>It monitors progress, steps in when needed, and never makes mistakes feel embarrassing.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0" y="4626864"/>
            <a:ext cx="4160520" cy="1234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132320" y="4626864"/>
            <a:ext cx="73152" cy="123444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51775" y="4828031"/>
            <a:ext cx="3749039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2C55E"/>
                </a:solidFill>
                <a:latin typeface="Avenir Next"/>
              </a:rPr>
              <a:t>Completion means proven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51775" y="5303520"/>
            <a:ext cx="3776472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venir Next"/>
              </a:rPr>
              <a:t>The backend confirms the task, evidence, and required cleanup before marking it complete.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venir Next"/>
              </a:rPr>
              <a:t>A live classroom for one learner at a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42416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50" b="0">
                <a:solidFill>
                  <a:srgbClr val="64748B"/>
                </a:solidFill>
                <a:latin typeface="Avenir Next"/>
              </a:rPr>
              <a:t>It feels like a real tutor — but every learner gets the attention a group class cannot provide.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" y="1508760"/>
            <a:ext cx="3090672" cy="4709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810512"/>
            <a:ext cx="2468880" cy="310896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000" b="1">
                <a:solidFill>
                  <a:srgbClr val="172033"/>
                </a:solidFill>
                <a:latin typeface="Avenir Next"/>
              </a:rPr>
              <a:t>Two ways to learn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2404872"/>
            <a:ext cx="2542032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96112" y="2404872"/>
            <a:ext cx="73152" cy="117043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606040"/>
            <a:ext cx="2130551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2563EB"/>
                </a:solidFill>
                <a:latin typeface="Avenir Next"/>
              </a:rPr>
              <a:t>Regular text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3081528"/>
            <a:ext cx="2157984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venir Next"/>
              </a:rPr>
              <a:t>Read, review, take quizzes, and ask quick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" y="3767328"/>
            <a:ext cx="2542032" cy="13533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112" y="3767328"/>
            <a:ext cx="73152" cy="1353312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3968496"/>
            <a:ext cx="2130551" cy="34747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700" b="1">
                <a:solidFill>
                  <a:srgbClr val="F97316"/>
                </a:solidFill>
                <a:latin typeface="Avenir Next"/>
              </a:rPr>
              <a:t>Live Classroom Mode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4443984"/>
            <a:ext cx="2157984" cy="53035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250" b="0">
                <a:solidFill>
                  <a:srgbClr val="334155"/>
                </a:solidFill>
                <a:latin typeface="Avenir Next"/>
              </a:rPr>
              <a:t>Talk naturally while TARS explains and draws diagrams on a whiteboard.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5413248"/>
            <a:ext cx="2487168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150" b="1">
                <a:solidFill>
                  <a:srgbClr val="334155"/>
                </a:solidFill>
                <a:latin typeface="Avenir Next"/>
              </a:rPr>
              <a:t>Then it watches you apply the lesson, helps when you slip, and never judges the mistake.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041648" y="1508760"/>
            <a:ext cx="7223760" cy="47091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70248" y="3360420"/>
            <a:ext cx="6766560" cy="6583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Avenir Next"/>
              </a:rPr>
              <a:t>SCREENSHOT: LIVE CLASSROOM + WHITEBOARD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073652"/>
            <a:ext cx="6528816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venir Next"/>
              </a:rPr>
              <a:t>Paste TARS teaching or drawing on the whiteboard here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venir Next"/>
              </a:rPr>
              <a:t>Not “they attended.” Proof they can do the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42416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50" b="0">
                <a:solidFill>
                  <a:srgbClr val="64748B"/>
                </a:solidFill>
                <a:latin typeface="Avenir Next"/>
              </a:rPr>
              <a:t>Every lab produces evidence that the learner completed the task correctly — including required cleanup.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38528"/>
            <a:ext cx="2240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344168" y="2212848"/>
            <a:ext cx="868680" cy="8686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44752" y="2359152"/>
            <a:ext cx="68580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venir Next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3273552"/>
            <a:ext cx="1874519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2563EB"/>
                </a:solidFill>
                <a:latin typeface="Avenir Next"/>
              </a:rPr>
              <a:t>Learn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93592"/>
            <a:ext cx="1828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Avenir Next"/>
              </a:rPr>
              <a:t>Understand the concept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62656" y="2606040"/>
            <a:ext cx="411480" cy="3657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3000" b="1">
                <a:solidFill>
                  <a:srgbClr val="64748B"/>
                </a:solidFill>
                <a:latin typeface="Avenir Next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29584" y="1938528"/>
            <a:ext cx="2240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215384" y="2212848"/>
            <a:ext cx="868680" cy="86868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15968" y="2359152"/>
            <a:ext cx="68580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venir Next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12464" y="3273552"/>
            <a:ext cx="1874519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F97316"/>
                </a:solidFill>
                <a:latin typeface="Avenir Next"/>
              </a:rPr>
              <a:t>Practice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3593592"/>
            <a:ext cx="1828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Avenir Next"/>
              </a:rPr>
              <a:t>Work in the real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33872" y="2606040"/>
            <a:ext cx="411480" cy="3657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3000" b="1">
                <a:solidFill>
                  <a:srgbClr val="64748B"/>
                </a:solidFill>
                <a:latin typeface="Avenir Next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1938528"/>
            <a:ext cx="2240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086600" y="2212848"/>
            <a:ext cx="868680" cy="86868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87184" y="2359152"/>
            <a:ext cx="68580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venir Nex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273552"/>
            <a:ext cx="1874519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8B5CF6"/>
                </a:solidFill>
                <a:latin typeface="Avenir Next"/>
              </a:rPr>
              <a:t>TARS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1968" y="3593592"/>
            <a:ext cx="1828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Avenir Next"/>
              </a:rPr>
              <a:t>Observes implementation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05088" y="2606040"/>
            <a:ext cx="411480" cy="36576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3000" b="1">
                <a:solidFill>
                  <a:srgbClr val="64748B"/>
                </a:solidFill>
                <a:latin typeface="Avenir Next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72016" y="1938528"/>
            <a:ext cx="2240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57816" y="2212848"/>
            <a:ext cx="868680" cy="86868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0" y="2359152"/>
            <a:ext cx="685800" cy="29260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venir Nex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54896" y="3273552"/>
            <a:ext cx="1874519" cy="22860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700" b="1">
                <a:solidFill>
                  <a:srgbClr val="22C55E"/>
                </a:solidFill>
                <a:latin typeface="Avenir Next"/>
              </a:rPr>
              <a:t>Verify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73184" y="3593592"/>
            <a:ext cx="1828800" cy="32004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50" b="0">
                <a:solidFill>
                  <a:srgbClr val="334155"/>
                </a:solidFill>
                <a:latin typeface="Avenir Next"/>
              </a:rPr>
              <a:t>Confirm task + cleanup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05840" y="5047488"/>
            <a:ext cx="10195560" cy="658368"/>
          </a:xfrm>
          <a:prstGeom prst="roundRect">
            <a:avLst/>
          </a:prstGeom>
          <a:solidFill>
            <a:srgbClr val="08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5230368"/>
            <a:ext cx="9921240" cy="25603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750" b="1">
                <a:solidFill>
                  <a:srgbClr val="FFFFFF"/>
                </a:solidFill>
                <a:latin typeface="Avenir Next"/>
              </a:rPr>
              <a:t>The learner does not just finish the course. They prove they can perform the workflow.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venir Next"/>
              </a:rPr>
              <a:t>This is Cprime’s product leverage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42416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50" b="0">
                <a:solidFill>
                  <a:srgbClr val="CBD5E1"/>
                </a:solidFill>
                <a:latin typeface="Avenir Next"/>
              </a:rPr>
              <a:t>Build the learning experience once. Improve it continuously. Sell it again and again.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691640"/>
            <a:ext cx="4983480" cy="129844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56816"/>
            <a:ext cx="4480560" cy="2743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900" b="1">
                <a:solidFill>
                  <a:srgbClr val="22C55E"/>
                </a:solidFill>
                <a:latin typeface="Avenir Next"/>
              </a:rPr>
              <a:t>Revenue without matching headcount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95728"/>
            <a:ext cx="443484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DDEBFF"/>
                </a:solidFill>
                <a:latin typeface="Avenir Next"/>
              </a:rPr>
              <a:t>Serve the next 1,000 learners without finding 1,000 more trainer-hours.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4496" y="1691640"/>
            <a:ext cx="4983480" cy="129844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28816" y="1956816"/>
            <a:ext cx="4480560" cy="2743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900" b="1">
                <a:solidFill>
                  <a:srgbClr val="22D3EE"/>
                </a:solidFill>
                <a:latin typeface="Avenir Next"/>
              </a:rPr>
              <a:t>Expertise becomes an asset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28816" y="2395728"/>
            <a:ext cx="443484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DDEBFF"/>
                </a:solidFill>
                <a:latin typeface="Avenir Next"/>
              </a:rPr>
              <a:t>Cprime’s knowledge keeps earning instead of restarting with every cohort.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3520440"/>
            <a:ext cx="4983480" cy="129844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785616"/>
            <a:ext cx="4480560" cy="2743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900" b="1">
                <a:solidFill>
                  <a:srgbClr val="F97316"/>
                </a:solidFill>
                <a:latin typeface="Avenir Next"/>
              </a:rPr>
              <a:t>Personalization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" y="4224528"/>
            <a:ext cx="443484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DDEBFF"/>
                </a:solidFill>
                <a:latin typeface="Avenir Next"/>
              </a:rPr>
              <a:t>Every learner gets individual attention, memory, and relevant examples.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4496" y="3520440"/>
            <a:ext cx="4983480" cy="1298448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28816" y="3785616"/>
            <a:ext cx="4480560" cy="2743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900" b="1">
                <a:solidFill>
                  <a:srgbClr val="8B5CF6"/>
                </a:solidFill>
                <a:latin typeface="Avenir Next"/>
              </a:rPr>
              <a:t>A true scalable product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8816" y="4224528"/>
            <a:ext cx="4434840" cy="43891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350" b="0">
                <a:solidFill>
                  <a:srgbClr val="DDEBFF"/>
                </a:solidFill>
                <a:latin typeface="Avenir Next"/>
              </a:rPr>
              <a:t>This could become Cprime’s first learning product sold repeatedly like software.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5623560"/>
            <a:ext cx="1014984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venir Next"/>
              </a:rPr>
              <a:t>Cprime stops scaling only through trainer time — and starts scaling through a product it owns.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6928" y="347472"/>
            <a:ext cx="1078992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3000" b="1">
                <a:solidFill>
                  <a:srgbClr val="172033"/>
                </a:solidFill>
                <a:latin typeface="Avenir Next"/>
              </a:rPr>
              <a:t>Demo the transformation in 90 seconds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96112"/>
            <a:ext cx="10424160" cy="50292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1550" b="0">
                <a:solidFill>
                  <a:srgbClr val="64748B"/>
                </a:solidFill>
                <a:latin typeface="Avenir Next"/>
              </a:rPr>
              <a:t>Show one learner moving from stuck to capable — without ever leaving the real tool.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85216" y="1572768"/>
            <a:ext cx="352044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3816" y="2807208"/>
            <a:ext cx="3063240" cy="6583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Avenir Next"/>
              </a:rPr>
              <a:t>1. LEARNER GETS STUCK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3520440"/>
            <a:ext cx="2825496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venir Next"/>
              </a:rPr>
              <a:t>Show the confusing AWS screen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79576" y="5266944"/>
            <a:ext cx="2331720" cy="38404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52728" y="5358384"/>
            <a:ext cx="217627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venir Next"/>
              </a:rPr>
              <a:t>The confusion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71416" y="1572768"/>
            <a:ext cx="352044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0016" y="2807208"/>
            <a:ext cx="3063240" cy="6583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Avenir Next"/>
              </a:rPr>
              <a:t>2. CTRL + TARS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8888" y="3520440"/>
            <a:ext cx="2825496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venir Next"/>
              </a:rPr>
              <a:t>Show TARS pointing or drawing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65776" y="5266944"/>
            <a:ext cx="2331720" cy="38404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38927" y="5358384"/>
            <a:ext cx="217627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venir Next"/>
              </a:rPr>
              <a:t>The wow moment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57616" y="1572768"/>
            <a:ext cx="3520440" cy="34747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86216" y="2807208"/>
            <a:ext cx="3063240" cy="6583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Avenir Next"/>
              </a:rPr>
              <a:t>3. TASK COMPLETED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05088" y="3520440"/>
            <a:ext cx="2825496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venir Next"/>
              </a:rPr>
              <a:t>Show success or backend verification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51976" y="5266944"/>
            <a:ext cx="2331720" cy="384048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25128" y="5358384"/>
            <a:ext cx="2176272" cy="1828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FFFFFF"/>
                </a:solidFill>
                <a:latin typeface="Avenir Next"/>
              </a:rPr>
              <a:t>The proof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50208" y="6053328"/>
            <a:ext cx="4297680" cy="32918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86784" y="6089904"/>
            <a:ext cx="422452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venir Next"/>
              </a:rPr>
              <a:t>One story. One clear before-and-after.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566928"/>
            <a:ext cx="3657600" cy="411480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l"/>
            <a:r>
              <a:rPr sz="2600" b="1">
                <a:solidFill>
                  <a:srgbClr val="22D3EE"/>
                </a:solidFill>
                <a:latin typeface="Avenir Next"/>
              </a:rPr>
              <a:t>Ctrl+Teach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1371600"/>
            <a:ext cx="10469880" cy="53035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venir Next"/>
              </a:rPr>
              <a:t>The future of learning is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874519"/>
            <a:ext cx="10469880" cy="530352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3200" b="1">
                <a:solidFill>
                  <a:srgbClr val="FB7185"/>
                </a:solidFill>
                <a:latin typeface="Avenir Next"/>
              </a:rPr>
              <a:t>another video library.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561320" cy="56692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2800" b="1">
                <a:solidFill>
                  <a:srgbClr val="22D3EE"/>
                </a:solidFill>
                <a:latin typeface="Avenir Next"/>
              </a:rPr>
              <a:t>It is a tutor that stays until you can do it yourself.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3182112"/>
            <a:ext cx="9738360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800" b="0">
                <a:solidFill>
                  <a:srgbClr val="CBD5E1"/>
                </a:solidFill>
                <a:latin typeface="Avenir Next"/>
              </a:rPr>
              <a:t>Built once. Personalized endlessly. Delivered at software scale.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08960" y="3913632"/>
            <a:ext cx="5989320" cy="15727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4197096"/>
            <a:ext cx="5532120" cy="65836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500" b="1">
                <a:solidFill>
                  <a:srgbClr val="2563EB"/>
                </a:solidFill>
                <a:latin typeface="Avenir Next"/>
              </a:rPr>
              <a:t>FINAL PRODUCT SCREENSHOT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56432" y="4910328"/>
            <a:ext cx="5294376" cy="384048"/>
          </a:xfrm>
          <a:prstGeom prst="rect">
            <a:avLst/>
          </a:prstGeom>
          <a:noFill/>
        </p:spPr>
        <p:txBody>
          <a:bodyPr wrap="none" lIns="73152" rIns="73152" tIns="73152" bIns="73152" anchor="t">
            <a:spAutoFit/>
          </a:bodyPr>
          <a:lstStyle/>
          <a:p>
            <a:pPr algn="ctr"/>
            <a:r>
              <a:rPr sz="1000" b="0">
                <a:solidFill>
                  <a:srgbClr val="64748B"/>
                </a:solidFill>
                <a:latin typeface="Avenir Next"/>
              </a:rPr>
              <a:t>Use your strongest TARS visual here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09160" y="5989320"/>
            <a:ext cx="2743200" cy="329184"/>
          </a:xfrm>
          <a:prstGeom prst="round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45736" y="6025896"/>
            <a:ext cx="2670048" cy="201168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venir Next"/>
              </a:rPr>
              <a:t>Ctrl+Teach + TARS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Ctrl+Teach — Cprime's Expertise, Turned Into a Product</dc:title>
  <dc:subject>Hackathon pitch deck</dc:subject>
  <dc:creator>Ctrl+Teach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