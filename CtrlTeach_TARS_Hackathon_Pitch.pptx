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999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24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Dark hero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Glow cyan"/>
          <p:cNvSpPr/>
          <p:nvPr/>
        </p:nvSpPr>
        <p:spPr>
          <a:xfrm>
            <a:off x="7680960" y="-365760"/>
            <a:ext cx="4389120" cy="4389120"/>
          </a:xfrm>
          <a:prstGeom prst="roundRect">
            <a:avLst/>
          </a:prstGeom>
          <a:solidFill>
            <a:srgbClr val="22D3EE">
              <a:alpha val="16000"/>
            </a:srgbClr>
          </a:solidFill>
          <a:ln>
            <a:noFill/>
          </a:ln>
        </p:spPr>
      </p:sp>
      <p:sp>
        <p:nvSpPr>
          <p:cNvPr id="5" name="Glow purple"/>
          <p:cNvSpPr/>
          <p:nvPr/>
        </p:nvSpPr>
        <p:spPr>
          <a:xfrm>
            <a:off x="-1097280" y="4389120"/>
            <a:ext cx="4389120" cy="3108960"/>
          </a:xfrm>
          <a:prstGeom prst="roundRect">
            <a:avLst/>
          </a:prstGeom>
          <a:solidFill>
            <a:srgbClr val="8B5CF6">
              <a:alpha val="18000"/>
            </a:srgbClr>
          </a:solidFill>
          <a:ln>
            <a:noFill/>
          </a:ln>
        </p:spPr>
      </p:sp>
      <p:sp>
        <p:nvSpPr>
          <p:cNvPr id="6" name="Hero title"/>
          <p:cNvSpPr/>
          <p:nvPr/>
        </p:nvSpPr>
        <p:spPr>
          <a:xfrm>
            <a:off x="640080" y="1097280"/>
            <a:ext cx="704088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5900" b="1">
                <a:solidFill>
                  <a:srgbClr val="FFFFFF"/>
                </a:solidFill>
                <a:latin typeface="Aptos"/>
              </a:rPr>
              <a:t>Ctrl+Teach</a:t>
            </a:r>
            <a:endParaRPr lang="en-US" sz="5900"/>
          </a:p>
          <a:p>
            <a:pPr/>
            <a:r>
              <a:rPr lang="en-US" sz="2450">
                <a:solidFill>
                  <a:srgbClr val="CBD5E1"/>
                </a:solidFill>
                <a:latin typeface="Aptos"/>
              </a:rPr>
              <a:t>Meet TARS — the AI tutor that lives next to your cursor.</a:t>
            </a:r>
            <a:endParaRPr lang="en-US" sz="2450"/>
          </a:p>
        </p:txBody>
      </p:sp>
      <p:sp>
        <p:nvSpPr>
          <p:cNvPr id="7" name="Hero note"/>
          <p:cNvSpPr/>
          <p:nvPr/>
        </p:nvSpPr>
        <p:spPr>
          <a:xfrm>
            <a:off x="685800" y="4160520"/>
            <a:ext cx="54406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1900">
                <a:solidFill>
                  <a:srgbClr val="FFF7ED"/>
                </a:solidFill>
                <a:latin typeface="Aptos"/>
              </a:rPr>
              <a:t>We generate courses too, but that’s the usual part now. The unusual part is the tutor we ship with them.</a:t>
            </a:r>
            <a:endParaRPr lang="en-US" sz="1900"/>
          </a:p>
        </p:txBody>
      </p:sp>
      <p:sp>
        <p:nvSpPr>
          <p:cNvPr id="8" name="Placeholder - Hero screenshot / TARS next to cursor"/>
          <p:cNvSpPr/>
          <p:nvPr/>
        </p:nvSpPr>
        <p:spPr>
          <a:xfrm>
            <a:off x="6537960" y="1508760"/>
            <a:ext cx="480060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Hero screenshot / TARS next to cursor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Drop a clean product screenshot here</a:t>
            </a:r>
            <a:endParaRPr lang="en-US" sz="1550"/>
          </a:p>
        </p:txBody>
      </p:sp>
      <p:sp>
        <p:nvSpPr>
          <p:cNvPr id="9" name="Pill - Hackathon pitch"/>
          <p:cNvSpPr/>
          <p:nvPr/>
        </p:nvSpPr>
        <p:spPr>
          <a:xfrm>
            <a:off x="685800" y="5989320"/>
            <a:ext cx="1874519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Hackathon pitch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The problem: training still feels stuck in the old model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Cprime has always been a learning company — but the current model still leans heavily on human trainers, live sessions, and static material.</a:t>
            </a:r>
            <a:endParaRPr lang="en-US" sz="1850"/>
          </a:p>
        </p:txBody>
      </p:sp>
      <p:sp>
        <p:nvSpPr>
          <p:cNvPr id="20" name="Human trainers don’t scale"/>
          <p:cNvSpPr/>
          <p:nvPr/>
        </p:nvSpPr>
        <p:spPr>
          <a:xfrm>
            <a:off x="685800" y="205740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450" b="1">
                <a:solidFill>
                  <a:srgbClr val="FB7185"/>
                </a:solidFill>
                <a:latin typeface="Aptos"/>
              </a:rPr>
              <a:t>Human trainers don’t scale</a:t>
            </a:r>
            <a:endParaRPr lang="en-US" sz="2450"/>
          </a:p>
          <a:p>
            <a:pPr/>
            <a:r>
              <a:rPr lang="en-US" sz="1750">
                <a:solidFill>
                  <a:srgbClr val="334155"/>
                </a:solidFill>
                <a:latin typeface="Aptos"/>
              </a:rPr>
              <a:t>Great trainers are expensive, scheduled, and limited to one room or call at a time.</a:t>
            </a:r>
            <a:endParaRPr lang="en-US" sz="1750"/>
          </a:p>
        </p:txBody>
      </p:sp>
      <p:sp>
        <p:nvSpPr>
          <p:cNvPr id="21" name="Tools change too fast"/>
          <p:cNvSpPr/>
          <p:nvPr/>
        </p:nvSpPr>
        <p:spPr>
          <a:xfrm>
            <a:off x="4480560" y="205740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450" b="1">
                <a:solidFill>
                  <a:srgbClr val="F97316"/>
                </a:solidFill>
                <a:latin typeface="Aptos"/>
              </a:rPr>
              <a:t>Tools change too fast</a:t>
            </a:r>
            <a:endParaRPr lang="en-US" sz="2450"/>
          </a:p>
          <a:p>
            <a:pPr/>
            <a:r>
              <a:rPr lang="en-US" sz="1750">
                <a:solidFill>
                  <a:srgbClr val="334155"/>
                </a:solidFill>
                <a:latin typeface="Aptos"/>
              </a:rPr>
              <a:t>AWS, Jira, ServiceNow, GitHub and Power BI keep moving. Screenshots and instructions go stale.</a:t>
            </a:r>
            <a:endParaRPr lang="en-US" sz="1750"/>
          </a:p>
        </p:txBody>
      </p:sp>
      <p:sp>
        <p:nvSpPr>
          <p:cNvPr id="22" name="Learners get stuck alone"/>
          <p:cNvSpPr/>
          <p:nvPr/>
        </p:nvSpPr>
        <p:spPr>
          <a:xfrm>
            <a:off x="8275320" y="205740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450" b="1">
                <a:solidFill>
                  <a:srgbClr val="2563EB"/>
                </a:solidFill>
                <a:latin typeface="Aptos"/>
              </a:rPr>
              <a:t>Learners get stuck alone</a:t>
            </a:r>
            <a:endParaRPr lang="en-US" sz="2450"/>
          </a:p>
          <a:p>
            <a:pPr/>
            <a:r>
              <a:rPr lang="en-US" sz="1750">
                <a:solidFill>
                  <a:srgbClr val="334155"/>
                </a:solidFill>
                <a:latin typeface="Aptos"/>
              </a:rPr>
              <a:t>The moment the trainer leaves, people jump between docs, ChatGPT, screenshots, and guesswork.</a:t>
            </a:r>
            <a:endParaRPr lang="en-US" sz="1750"/>
          </a:p>
        </p:txBody>
      </p:sp>
      <p:sp>
        <p:nvSpPr>
          <p:cNvPr id="30" name="Bottom punch"/>
          <p:cNvSpPr/>
          <p:nvPr/>
        </p:nvSpPr>
        <p:spPr>
          <a:xfrm>
            <a:off x="1051560" y="5577840"/>
            <a:ext cx="10149840" cy="594360"/>
          </a:xfrm>
          <a:prstGeom prst="roundRect">
            <a:avLst/>
          </a:prstGeom>
          <a:solidFill>
            <a:srgbClr val="FFE7D6"/>
          </a:solidFill>
          <a:ln w="12700">
            <a:solidFill>
              <a:srgbClr val="FED7AA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2300" b="1">
                <a:solidFill>
                  <a:srgbClr val="0F172A"/>
                </a:solidFill>
                <a:latin typeface="Aptos"/>
              </a:rPr>
              <a:t>The world is moving faster than classroom schedules.</a:t>
            </a:r>
            <a:endParaRPr lang="en-U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A real example: getting lost inside AWS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During training, we had to create an EC2 instance and deploy our app. The trainer showed it once — then we forgot what to click.</a:t>
            </a:r>
            <a:endParaRPr lang="en-US" sz="1850"/>
          </a:p>
        </p:txBody>
      </p:sp>
      <p:sp>
        <p:nvSpPr>
          <p:cNvPr id="20" name="Story text"/>
          <p:cNvSpPr/>
          <p:nvPr/>
        </p:nvSpPr>
        <p:spPr>
          <a:xfrm>
            <a:off x="685800" y="178308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300" b="1">
                <a:solidFill>
                  <a:srgbClr val="0F172A"/>
                </a:solidFill>
                <a:latin typeface="Aptos"/>
              </a:rPr>
              <a:t>What actually happens:</a:t>
            </a:r>
            <a:endParaRPr lang="en-US" sz="230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You jump from AWS to ChatGPT.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ChatGPT says “the button is on the top left.”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But AWS already changed the UI.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Now you’re taking screenshots, asking again, and losing momentum.</a:t>
            </a:r>
            <a:endParaRPr lang="en-US" sz="1750"/>
          </a:p>
        </p:txBody>
      </p:sp>
      <p:sp>
        <p:nvSpPr>
          <p:cNvPr id="21" name="Placeholder - Screenshot space: AWS console confusion"/>
          <p:cNvSpPr/>
          <p:nvPr/>
        </p:nvSpPr>
        <p:spPr>
          <a:xfrm>
            <a:off x="6217920" y="1600200"/>
            <a:ext cx="507492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space: AWS console confusion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Add an AWS Console screenshot with a “where do I click?” moment</a:t>
            </a:r>
            <a:endParaRPr lang="en-US" sz="1550"/>
          </a:p>
        </p:txBody>
      </p:sp>
      <p:sp>
        <p:nvSpPr>
          <p:cNvPr id="22" name="Pill - The pain is not content. It’s navigation + confidence."/>
          <p:cNvSpPr/>
          <p:nvPr/>
        </p:nvSpPr>
        <p:spPr>
          <a:xfrm>
            <a:off x="960120" y="6199632"/>
            <a:ext cx="5029200" cy="347472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The pain is not content. It’s navigation + confidence.</a:t>
            </a:r>
            <a:endParaRPr lang="en-US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Meet TARS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A small tutor that lives right next to your cursor and helps the moment you’re lost.</a:t>
            </a:r>
            <a:endParaRPr lang="en-US" sz="1850"/>
          </a:p>
        </p:txBody>
      </p:sp>
      <p:sp>
        <p:nvSpPr>
          <p:cNvPr id="20" name="Meet text"/>
          <p:cNvSpPr/>
          <p:nvPr/>
        </p:nvSpPr>
        <p:spPr>
          <a:xfrm>
            <a:off x="685800" y="1737360"/>
            <a:ext cx="48920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050">
                <a:solidFill>
                  <a:srgbClr val="334155"/>
                </a:solidFill>
                <a:latin typeface="Aptos"/>
              </a:rPr>
              <a:t>Instead of leaving the learner to figure it out alone, TARS stays with them on the page.</a:t>
            </a:r>
            <a:endParaRPr lang="en-US" sz="2050"/>
          </a:p>
          <a:p>
            <a:pPr/>
            <a:r>
              <a:rPr lang="en-US" sz="1950" b="1">
                <a:solidFill>
                  <a:srgbClr val="0F172A"/>
                </a:solidFill>
                <a:latin typeface="Aptos"/>
              </a:rPr>
              <a:t>Hold Ctrl, point at the confusing part, and ask naturally:</a:t>
            </a:r>
            <a:endParaRPr lang="en-US" sz="1950"/>
          </a:p>
          <a:p>
            <a:pPr/>
            <a:r>
              <a:rPr lang="en-US" sz="1850" b="1">
                <a:solidFill>
                  <a:srgbClr val="2563EB"/>
                </a:solidFill>
                <a:latin typeface="Aptos"/>
              </a:rPr>
              <a:t>“Where is the launch instance button?”</a:t>
            </a:r>
            <a:endParaRPr lang="en-US" sz="1850"/>
          </a:p>
          <a:p>
            <a:pPr/>
            <a:r>
              <a:rPr lang="en-US" sz="1950">
                <a:solidFill>
                  <a:srgbClr val="334155"/>
                </a:solidFill>
                <a:latin typeface="Aptos"/>
              </a:rPr>
              <a:t>TARS understands the screen, points to the right place, and explains what to do next.</a:t>
            </a:r>
            <a:endParaRPr lang="en-US" sz="1950"/>
          </a:p>
        </p:txBody>
      </p:sp>
      <p:sp>
        <p:nvSpPr>
          <p:cNvPr id="21" name="Placeholder - Screenshot space: TARS beside cursor"/>
          <p:cNvSpPr/>
          <p:nvPr/>
        </p:nvSpPr>
        <p:spPr>
          <a:xfrm>
            <a:off x="6080760" y="1600200"/>
            <a:ext cx="52120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space: TARS beside cursor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Show TARS floating near the cursor</a:t>
            </a:r>
            <a:endParaRPr lang="en-US" sz="1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What makes TARS feel different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It is not just a chat box next to a course. It can see the workspace, talk through it, and act with the learner.</a:t>
            </a:r>
            <a:endParaRPr lang="en-US" sz="1850"/>
          </a:p>
        </p:txBody>
      </p:sp>
      <p:sp>
        <p:nvSpPr>
          <p:cNvPr id="30" name="Point"/>
          <p:cNvSpPr/>
          <p:nvPr/>
        </p:nvSpPr>
        <p:spPr>
          <a:xfrm>
            <a:off x="685800" y="1645920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500" b="1">
                <a:solidFill>
                  <a:srgbClr val="2563EB"/>
                </a:solidFill>
                <a:latin typeface="Aptos"/>
              </a:rPr>
              <a:t>Point</a:t>
            </a:r>
            <a:endParaRPr lang="en-US" sz="2500"/>
          </a:p>
          <a:p>
            <a:pPr/>
            <a:r>
              <a:rPr lang="en-US" sz="1700">
                <a:solidFill>
                  <a:srgbClr val="334155"/>
                </a:solidFill>
                <a:latin typeface="Aptos"/>
              </a:rPr>
              <a:t>Shows exactly where something is on the screen.</a:t>
            </a:r>
            <a:endParaRPr lang="en-US" sz="1700"/>
          </a:p>
        </p:txBody>
      </p:sp>
      <p:sp>
        <p:nvSpPr>
          <p:cNvPr id="31" name="Draw"/>
          <p:cNvSpPr/>
          <p:nvPr/>
        </p:nvSpPr>
        <p:spPr>
          <a:xfrm>
            <a:off x="6309360" y="1645920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500" b="1">
                <a:solidFill>
                  <a:srgbClr val="F97316"/>
                </a:solidFill>
                <a:latin typeface="Aptos"/>
              </a:rPr>
              <a:t>Draw</a:t>
            </a:r>
            <a:endParaRPr lang="en-US" sz="2500"/>
          </a:p>
          <a:p>
            <a:pPr/>
            <a:r>
              <a:rPr lang="en-US" sz="1700">
                <a:solidFill>
                  <a:srgbClr val="334155"/>
                </a:solidFill>
                <a:latin typeface="Aptos"/>
              </a:rPr>
              <a:t>Draws on top of the browser to explain visually.</a:t>
            </a:r>
            <a:endParaRPr lang="en-US" sz="1700"/>
          </a:p>
        </p:txBody>
      </p:sp>
      <p:sp>
        <p:nvSpPr>
          <p:cNvPr id="32" name="Circle to ask"/>
          <p:cNvSpPr/>
          <p:nvPr/>
        </p:nvSpPr>
        <p:spPr>
          <a:xfrm>
            <a:off x="685800" y="3703320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500" b="1">
                <a:solidFill>
                  <a:srgbClr val="8B5CF6"/>
                </a:solidFill>
                <a:latin typeface="Aptos"/>
              </a:rPr>
              <a:t>Circle to ask</a:t>
            </a:r>
            <a:endParaRPr lang="en-US" sz="2500"/>
          </a:p>
          <a:p>
            <a:pPr/>
            <a:r>
              <a:rPr lang="en-US" sz="1700">
                <a:solidFill>
                  <a:srgbClr val="334155"/>
                </a:solidFill>
                <a:latin typeface="Aptos"/>
              </a:rPr>
              <a:t>Learner circles/underlines something and TARS understands the region.</a:t>
            </a:r>
            <a:endParaRPr lang="en-US" sz="1700"/>
          </a:p>
        </p:txBody>
      </p:sp>
      <p:sp>
        <p:nvSpPr>
          <p:cNvPr id="33" name="Browser actions"/>
          <p:cNvSpPr/>
          <p:nvPr/>
        </p:nvSpPr>
        <p:spPr>
          <a:xfrm>
            <a:off x="6309360" y="3703320"/>
            <a:ext cx="51663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500" b="1">
                <a:solidFill>
                  <a:srgbClr val="22C55E"/>
                </a:solidFill>
                <a:latin typeface="Aptos"/>
              </a:rPr>
              <a:t>Browser actions</a:t>
            </a:r>
            <a:endParaRPr lang="en-US" sz="2500"/>
          </a:p>
          <a:p>
            <a:pPr/>
            <a:r>
              <a:rPr lang="en-US" sz="1700">
                <a:solidFill>
                  <a:srgbClr val="334155"/>
                </a:solidFill>
                <a:latin typeface="Aptos"/>
              </a:rPr>
              <a:t>Can scroll, switch tabs, navigate, and guide real workflows.</a:t>
            </a:r>
            <a:endParaRPr lang="en-US" sz="1700"/>
          </a:p>
        </p:txBody>
      </p:sp>
      <p:sp>
        <p:nvSpPr>
          <p:cNvPr id="40" name="Placeholder - Screenshot strip: point / draw / circle"/>
          <p:cNvSpPr/>
          <p:nvPr/>
        </p:nvSpPr>
        <p:spPr>
          <a:xfrm>
            <a:off x="868680" y="5715000"/>
            <a:ext cx="104698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strip: point / draw / circle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Drop 2–3 small screenshots of TARS capabilities here</a:t>
            </a:r>
            <a:endParaRPr lang="en-US" sz="15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Courses become hands-on, not just readable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When a lesson is about a real web platform, Ctrl+Teach can launch a browser lab right after it.</a:t>
            </a:r>
            <a:endParaRPr lang="en-US" sz="1850"/>
          </a:p>
        </p:txBody>
      </p:sp>
      <p:sp>
        <p:nvSpPr>
          <p:cNvPr id="20" name="Lab list"/>
          <p:cNvSpPr/>
          <p:nvPr/>
        </p:nvSpPr>
        <p:spPr>
          <a:xfrm>
            <a:off x="685800" y="1691640"/>
            <a:ext cx="53035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300" b="1">
                <a:solidFill>
                  <a:srgbClr val="0F172A"/>
                </a:solidFill>
                <a:latin typeface="Aptos"/>
              </a:rPr>
              <a:t>Example lab:</a:t>
            </a:r>
            <a:endParaRPr lang="en-US" sz="230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Open AWS Console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Create an EC2 instance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Deploy the sample app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TARS watches progress and helps only when needed</a:t>
            </a:r>
            <a:endParaRPr lang="en-US" sz="1750"/>
          </a:p>
          <a:p>
            <a:pPr>
              <a:buChar char="•"/>
            </a:pPr>
            <a:r>
              <a:rPr lang="en-US" sz="1750">
                <a:solidFill>
                  <a:srgbClr val="334155"/>
                </a:solidFill>
                <a:latin typeface="Aptos"/>
              </a:rPr>
              <a:t>Completion is verified after the task and cleanup are done</a:t>
            </a:r>
            <a:endParaRPr lang="en-US" sz="1750"/>
          </a:p>
        </p:txBody>
      </p:sp>
      <p:sp>
        <p:nvSpPr>
          <p:cNvPr id="21" name="Placeholder - Screenshot space: Browser lab"/>
          <p:cNvSpPr/>
          <p:nvPr/>
        </p:nvSpPr>
        <p:spPr>
          <a:xfrm>
            <a:off x="6309360" y="1600200"/>
            <a:ext cx="49834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space: Browser lab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Show AWS / Jira / GitHub lab with TARS guidance</a:t>
            </a:r>
            <a:endParaRPr lang="en-US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Two ways to learn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Same tutor, different intensity depending on what the learner needs.</a:t>
            </a:r>
            <a:endParaRPr lang="en-US" sz="1850"/>
          </a:p>
        </p:txBody>
      </p:sp>
      <p:sp>
        <p:nvSpPr>
          <p:cNvPr id="20" name="Text mode"/>
          <p:cNvSpPr/>
          <p:nvPr/>
        </p:nvSpPr>
        <p:spPr>
          <a:xfrm>
            <a:off x="777240" y="169164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850" b="1">
                <a:solidFill>
                  <a:srgbClr val="2563EB"/>
                </a:solidFill>
                <a:latin typeface="Aptos"/>
              </a:rPr>
              <a:t>1. Regular text mode</a:t>
            </a:r>
            <a:endParaRPr lang="en-US" sz="2850"/>
          </a:p>
          <a:p>
            <a:pPr/>
            <a:r>
              <a:rPr lang="en-US" sz="1850">
                <a:solidFill>
                  <a:srgbClr val="334155"/>
                </a:solidFill>
                <a:latin typeface="Aptos"/>
              </a:rPr>
              <a:t>For normal course lessons, explanations, quick questions, summaries, quizzes, and self-paced study.</a:t>
            </a:r>
            <a:endParaRPr lang="en-US" sz="1850"/>
          </a:p>
          <a:p>
            <a:pPr/>
            <a:r>
              <a:rPr lang="en-US" sz="1750">
                <a:solidFill>
                  <a:srgbClr val="64748B"/>
                </a:solidFill>
                <a:latin typeface="Aptos"/>
              </a:rPr>
              <a:t>Good for: “Explain this concept again.”</a:t>
            </a:r>
            <a:endParaRPr lang="en-US" sz="1750"/>
          </a:p>
        </p:txBody>
      </p:sp>
      <p:sp>
        <p:nvSpPr>
          <p:cNvPr id="21" name="Classroom mode"/>
          <p:cNvSpPr/>
          <p:nvPr/>
        </p:nvSpPr>
        <p:spPr>
          <a:xfrm>
            <a:off x="6355080" y="169164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850" b="1">
                <a:solidFill>
                  <a:srgbClr val="F97316"/>
                </a:solidFill>
                <a:latin typeface="Aptos"/>
              </a:rPr>
              <a:t>2. Live Classroom Mode</a:t>
            </a:r>
            <a:endParaRPr lang="en-US" sz="2850"/>
          </a:p>
          <a:p>
            <a:pPr/>
            <a:r>
              <a:rPr lang="en-US" sz="1850">
                <a:solidFill>
                  <a:srgbClr val="334155"/>
                </a:solidFill>
                <a:latin typeface="Aptos"/>
              </a:rPr>
              <a:t>Voice + whiteboard + screen guidance. This is the Cprime classroom feeling, but with an AI tutor instead of a scheduled human trainer.</a:t>
            </a:r>
            <a:endParaRPr lang="en-US" sz="1850"/>
          </a:p>
          <a:p>
            <a:pPr/>
            <a:r>
              <a:rPr lang="en-US" sz="1750">
                <a:solidFill>
                  <a:srgbClr val="64748B"/>
                </a:solidFill>
                <a:latin typeface="Aptos"/>
              </a:rPr>
              <a:t>Good for: “Show me where to click.”</a:t>
            </a:r>
            <a:endParaRPr lang="en-US" sz="1750"/>
          </a:p>
        </p:txBody>
      </p:sp>
      <p:sp>
        <p:nvSpPr>
          <p:cNvPr id="22" name="Placeholder - Screenshot space: Classroom / whiteboard mode"/>
          <p:cNvSpPr/>
          <p:nvPr/>
        </p:nvSpPr>
        <p:spPr>
          <a:xfrm>
            <a:off x="2880360" y="5989320"/>
            <a:ext cx="64008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space: Classroom / whiteboard mode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Add whiteboard mode screenshot here</a:t>
            </a:r>
            <a:endParaRPr lang="en-US" sz="1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Why this matters for Cprime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Cprime already knows learning. TARS is the way to make that learning scale without making it feel cold.</a:t>
            </a:r>
            <a:endParaRPr lang="en-US" sz="1850"/>
          </a:p>
        </p:txBody>
      </p:sp>
      <p:sp>
        <p:nvSpPr>
          <p:cNvPr id="30" name="Less dependency on live trainers"/>
          <p:cNvSpPr/>
          <p:nvPr/>
        </p:nvSpPr>
        <p:spPr>
          <a:xfrm>
            <a:off x="731520" y="164592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200" b="1">
                <a:solidFill>
                  <a:srgbClr val="0F172A"/>
                </a:solidFill>
                <a:latin typeface="Aptos"/>
              </a:rPr>
              <a:t>Less dependency on live trainers</a:t>
            </a:r>
            <a:endParaRPr lang="en-US" sz="2200"/>
          </a:p>
          <a:p>
            <a:pPr/>
            <a:r>
              <a:rPr lang="en-US" sz="1550">
                <a:solidFill>
                  <a:srgbClr val="334155"/>
                </a:solidFill>
                <a:latin typeface="Aptos"/>
              </a:rPr>
              <a:t>Human experts can focus on high-value coaching while TARS handles repeatable guidance.</a:t>
            </a:r>
            <a:endParaRPr lang="en-US" sz="1550"/>
          </a:p>
        </p:txBody>
      </p:sp>
      <p:sp>
        <p:nvSpPr>
          <p:cNvPr id="31" name="Faster training for fast-changing tools"/>
          <p:cNvSpPr/>
          <p:nvPr/>
        </p:nvSpPr>
        <p:spPr>
          <a:xfrm>
            <a:off x="6263640" y="164592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200" b="1">
                <a:solidFill>
                  <a:srgbClr val="0F172A"/>
                </a:solidFill>
                <a:latin typeface="Aptos"/>
              </a:rPr>
              <a:t>Faster training for fast-changing tools</a:t>
            </a:r>
            <a:endParaRPr lang="en-US" sz="2200"/>
          </a:p>
          <a:p>
            <a:pPr/>
            <a:r>
              <a:rPr lang="en-US" sz="1550">
                <a:solidFill>
                  <a:srgbClr val="334155"/>
                </a:solidFill>
                <a:latin typeface="Aptos"/>
              </a:rPr>
              <a:t>New workflows can be taught as soon as the market changes.</a:t>
            </a:r>
            <a:endParaRPr lang="en-US" sz="1550"/>
          </a:p>
        </p:txBody>
      </p:sp>
      <p:sp>
        <p:nvSpPr>
          <p:cNvPr id="32" name="More hands-on practice"/>
          <p:cNvSpPr/>
          <p:nvPr/>
        </p:nvSpPr>
        <p:spPr>
          <a:xfrm>
            <a:off x="731520" y="36118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200" b="1">
                <a:solidFill>
                  <a:srgbClr val="0F172A"/>
                </a:solidFill>
                <a:latin typeface="Aptos"/>
              </a:rPr>
              <a:t>More hands-on practice</a:t>
            </a:r>
            <a:endParaRPr lang="en-US" sz="2200"/>
          </a:p>
          <a:p>
            <a:pPr/>
            <a:r>
              <a:rPr lang="en-US" sz="1550">
                <a:solidFill>
                  <a:srgbClr val="334155"/>
                </a:solidFill>
                <a:latin typeface="Aptos"/>
              </a:rPr>
              <a:t>Learners do the thing inside the real product, not just watch someone else do it.</a:t>
            </a:r>
            <a:endParaRPr lang="en-US" sz="1550"/>
          </a:p>
        </p:txBody>
      </p:sp>
      <p:sp>
        <p:nvSpPr>
          <p:cNvPr id="33" name="Better proof of learning"/>
          <p:cNvSpPr/>
          <p:nvPr/>
        </p:nvSpPr>
        <p:spPr>
          <a:xfrm>
            <a:off x="6263640" y="36118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/>
            <a:r>
              <a:rPr lang="en-US" sz="2200" b="1">
                <a:solidFill>
                  <a:srgbClr val="0F172A"/>
                </a:solidFill>
                <a:latin typeface="Aptos"/>
              </a:rPr>
              <a:t>Better proof of learning</a:t>
            </a:r>
            <a:endParaRPr lang="en-US" sz="2200"/>
          </a:p>
          <a:p>
            <a:pPr/>
            <a:r>
              <a:rPr lang="en-US" sz="1550">
                <a:solidFill>
                  <a:srgbClr val="334155"/>
                </a:solidFill>
                <a:latin typeface="Aptos"/>
              </a:rPr>
              <a:t>Labs, progress, and evidence show what the learner actually completed.</a:t>
            </a:r>
            <a:endParaRPr lang="en-US" sz="1550"/>
          </a:p>
        </p:txBody>
      </p:sp>
      <p:sp>
        <p:nvSpPr>
          <p:cNvPr id="40" name="Impact line"/>
          <p:cNvSpPr/>
          <p:nvPr/>
        </p:nvSpPr>
        <p:spPr>
          <a:xfrm>
            <a:off x="1097280" y="5669280"/>
            <a:ext cx="1001268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2450" b="1">
                <a:solidFill>
                  <a:srgbClr val="FFFFFF"/>
                </a:solidFill>
                <a:latin typeface="Aptos"/>
              </a:rPr>
              <a:t>The course is not the product. The tutor is the product.</a:t>
            </a:r>
            <a:endParaRPr lang="en-US" sz="2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</p:sp>
      <p:sp>
        <p:nvSpPr>
          <p:cNvPr id="10" name="Title"/>
          <p:cNvSpPr/>
          <p:nvPr/>
        </p:nvSpPr>
        <p:spPr>
          <a:xfrm>
            <a:off x="502920" y="41148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900" b="1">
                <a:solidFill>
                  <a:srgbClr val="0F172A"/>
                </a:solidFill>
                <a:latin typeface="Aptos"/>
              </a:rPr>
              <a:t>Demo flow</a:t>
            </a:r>
            <a:endParaRPr lang="en-US" sz="3900"/>
          </a:p>
          <a:p>
            <a:pPr/>
            <a:r>
              <a:rPr lang="en-US" sz="1850">
                <a:solidFill>
                  <a:srgbClr val="64748B"/>
                </a:solidFill>
                <a:latin typeface="Aptos"/>
              </a:rPr>
              <a:t>A simple AWS story that makes the value obvious in under two minutes.</a:t>
            </a:r>
            <a:endParaRPr lang="en-US" sz="1850"/>
          </a:p>
        </p:txBody>
      </p:sp>
      <p:sp>
        <p:nvSpPr>
          <p:cNvPr id="20" name="Step 1"/>
          <p:cNvSpPr/>
          <p:nvPr/>
        </p:nvSpPr>
        <p:spPr>
          <a:xfrm>
            <a:off x="594360" y="16916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3150" b="1">
                <a:solidFill>
                  <a:srgbClr val="2563EB"/>
                </a:solidFill>
                <a:latin typeface="Aptos"/>
              </a:rPr>
              <a:t>1</a:t>
            </a:r>
            <a:endParaRPr lang="en-US" sz="3150"/>
          </a:p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Open EC2 lab</a:t>
            </a:r>
            <a:endParaRPr lang="en-US" sz="1800"/>
          </a:p>
          <a:p>
            <a:pPr algn="ctr"/>
            <a:r>
              <a:rPr lang="en-US" sz="1300">
                <a:solidFill>
                  <a:srgbClr val="334155"/>
                </a:solidFill>
                <a:latin typeface="Aptos"/>
              </a:rPr>
              <a:t>Learner starts the AWS deployment lab.</a:t>
            </a:r>
            <a:endParaRPr lang="en-US" sz="1300"/>
          </a:p>
        </p:txBody>
      </p:sp>
      <p:sp>
        <p:nvSpPr>
          <p:cNvPr id="21" name="Step 2"/>
          <p:cNvSpPr/>
          <p:nvPr/>
        </p:nvSpPr>
        <p:spPr>
          <a:xfrm>
            <a:off x="2926079" y="16916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3150" b="1">
                <a:solidFill>
                  <a:srgbClr val="2563EB"/>
                </a:solidFill>
                <a:latin typeface="Aptos"/>
              </a:rPr>
              <a:t>2</a:t>
            </a:r>
            <a:endParaRPr lang="en-US" sz="3150"/>
          </a:p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Gets stuck</a:t>
            </a:r>
            <a:endParaRPr lang="en-US" sz="1800"/>
          </a:p>
          <a:p>
            <a:pPr algn="ctr"/>
            <a:r>
              <a:rPr lang="en-US" sz="1300">
                <a:solidFill>
                  <a:srgbClr val="334155"/>
                </a:solidFill>
                <a:latin typeface="Aptos"/>
              </a:rPr>
              <a:t>They don’t know where the right button moved.</a:t>
            </a:r>
            <a:endParaRPr lang="en-US" sz="1300"/>
          </a:p>
        </p:txBody>
      </p:sp>
      <p:sp>
        <p:nvSpPr>
          <p:cNvPr id="22" name="Step 3"/>
          <p:cNvSpPr/>
          <p:nvPr/>
        </p:nvSpPr>
        <p:spPr>
          <a:xfrm>
            <a:off x="5257800" y="16916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3150" b="1">
                <a:solidFill>
                  <a:srgbClr val="2563EB"/>
                </a:solidFill>
                <a:latin typeface="Aptos"/>
              </a:rPr>
              <a:t>3</a:t>
            </a:r>
            <a:endParaRPr lang="en-US" sz="3150"/>
          </a:p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Hold Ctrl + ask</a:t>
            </a:r>
            <a:endParaRPr lang="en-US" sz="1800"/>
          </a:p>
          <a:p>
            <a:pPr algn="ctr"/>
            <a:r>
              <a:rPr lang="en-US" sz="1300">
                <a:solidFill>
                  <a:srgbClr val="334155"/>
                </a:solidFill>
                <a:latin typeface="Aptos"/>
              </a:rPr>
              <a:t>They point at the screen and ask TARS.</a:t>
            </a:r>
            <a:endParaRPr lang="en-US" sz="1300"/>
          </a:p>
        </p:txBody>
      </p:sp>
      <p:sp>
        <p:nvSpPr>
          <p:cNvPr id="23" name="Step 4"/>
          <p:cNvSpPr/>
          <p:nvPr/>
        </p:nvSpPr>
        <p:spPr>
          <a:xfrm>
            <a:off x="7589519" y="16916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3150" b="1">
                <a:solidFill>
                  <a:srgbClr val="2563EB"/>
                </a:solidFill>
                <a:latin typeface="Aptos"/>
              </a:rPr>
              <a:t>4</a:t>
            </a:r>
            <a:endParaRPr lang="en-US" sz="3150"/>
          </a:p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TARS guides</a:t>
            </a:r>
            <a:endParaRPr lang="en-US" sz="1800"/>
          </a:p>
          <a:p>
            <a:pPr algn="ctr"/>
            <a:r>
              <a:rPr lang="en-US" sz="1300">
                <a:solidFill>
                  <a:srgbClr val="334155"/>
                </a:solidFill>
                <a:latin typeface="Aptos"/>
              </a:rPr>
              <a:t>TARS points, draws, scrolls, and explains the next step.</a:t>
            </a:r>
            <a:endParaRPr lang="en-US" sz="1300"/>
          </a:p>
        </p:txBody>
      </p:sp>
      <p:sp>
        <p:nvSpPr>
          <p:cNvPr id="24" name="Step 5"/>
          <p:cNvSpPr/>
          <p:nvPr/>
        </p:nvSpPr>
        <p:spPr>
          <a:xfrm>
            <a:off x="9921240" y="169164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1440" tIns="91440" rIns="91440" bIns="91440"/>
          <a:lstStyle/>
          <a:p>
            <a:pPr algn="ctr"/>
            <a:r>
              <a:rPr lang="en-US" sz="3150" b="1">
                <a:solidFill>
                  <a:srgbClr val="2563EB"/>
                </a:solidFill>
                <a:latin typeface="Aptos"/>
              </a:rPr>
              <a:t>5</a:t>
            </a:r>
            <a:endParaRPr lang="en-US" sz="3150"/>
          </a:p>
          <a:p>
            <a:pPr algn="ctr"/>
            <a:r>
              <a:rPr lang="en-US" sz="1800" b="1">
                <a:solidFill>
                  <a:srgbClr val="0F172A"/>
                </a:solidFill>
                <a:latin typeface="Aptos"/>
              </a:rPr>
              <a:t>Verify</a:t>
            </a:r>
            <a:endParaRPr lang="en-US" sz="1800"/>
          </a:p>
          <a:p>
            <a:pPr algn="ctr"/>
            <a:r>
              <a:rPr lang="en-US" sz="1300">
                <a:solidFill>
                  <a:srgbClr val="334155"/>
                </a:solidFill>
                <a:latin typeface="Aptos"/>
              </a:rPr>
              <a:t>Backend confirms the task and cleanup are done.</a:t>
            </a:r>
            <a:endParaRPr lang="en-US" sz="1300"/>
          </a:p>
        </p:txBody>
      </p:sp>
      <p:sp>
        <p:nvSpPr>
          <p:cNvPr id="30" name="Placeholder - Screenshot space: end-to-end demo sequence"/>
          <p:cNvSpPr/>
          <p:nvPr/>
        </p:nvSpPr>
        <p:spPr>
          <a:xfrm>
            <a:off x="1051560" y="5074920"/>
            <a:ext cx="101041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Screenshot space: end-to-end demo sequence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Add a wide screenshot strip or 3-step collage here</a:t>
            </a:r>
            <a:endParaRPr lang="en-US" sz="15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Dark clos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Close title"/>
          <p:cNvSpPr/>
          <p:nvPr/>
        </p:nvSpPr>
        <p:spPr>
          <a:xfrm>
            <a:off x="777240" y="960120"/>
            <a:ext cx="106984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5000" b="1">
                <a:solidFill>
                  <a:srgbClr val="FFFFFF"/>
                </a:solidFill>
                <a:latin typeface="Aptos"/>
              </a:rPr>
              <a:t>Ctrl+Teach makes training feel live again.</a:t>
            </a:r>
            <a:endParaRPr lang="en-US" sz="5000"/>
          </a:p>
          <a:p>
            <a:pPr algn="ctr"/>
            <a:r>
              <a:rPr lang="en-US" sz="2250">
                <a:solidFill>
                  <a:srgbClr val="CBD5E1"/>
                </a:solidFill>
                <a:latin typeface="Aptos"/>
              </a:rPr>
              <a:t>Not because it generates lessons — because TARS stays with the learner while they actually do the work.</a:t>
            </a:r>
            <a:endParaRPr lang="en-US" sz="2250"/>
          </a:p>
        </p:txBody>
      </p:sp>
      <p:sp>
        <p:nvSpPr>
          <p:cNvPr id="5" name="Placeholder - Final screenshot / product money shot"/>
          <p:cNvSpPr/>
          <p:nvPr/>
        </p:nvSpPr>
        <p:spPr>
          <a:xfrm>
            <a:off x="2743200" y="3429000"/>
            <a:ext cx="672084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37160" tIns="137160" rIns="137160" bIns="137160"/>
          <a:lstStyle/>
          <a:p>
            <a:pPr algn="ctr"/>
            <a:r>
              <a:rPr lang="en-US" sz="2200" b="1">
                <a:solidFill>
                  <a:srgbClr val="2563EB"/>
                </a:solidFill>
                <a:latin typeface="Aptos"/>
              </a:rPr>
              <a:t>Final screenshot / product money shot</a:t>
            </a:r>
            <a:endParaRPr lang="en-US" sz="2200"/>
          </a:p>
          <a:p>
            <a:pPr algn="ctr"/>
            <a:r>
              <a:rPr lang="en-US" sz="1550">
                <a:solidFill>
                  <a:srgbClr val="64748B"/>
                </a:solidFill>
                <a:latin typeface="Aptos"/>
              </a:rPr>
              <a:t>Drop your strongest TARS screenshot here</a:t>
            </a:r>
            <a:endParaRPr lang="en-US" sz="1550"/>
          </a:p>
        </p:txBody>
      </p:sp>
      <p:sp>
        <p:nvSpPr>
          <p:cNvPr id="6" name="Pill - Meet TARS"/>
          <p:cNvSpPr/>
          <p:nvPr/>
        </p:nvSpPr>
        <p:spPr>
          <a:xfrm>
            <a:off x="4983480" y="5989320"/>
            <a:ext cx="2194560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/>
              </a:rPr>
              <a:t>Meet TARS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trlTeach">
  <a:themeElements>
    <a:clrScheme name="CtrlTeach">
      <a:dk1>
        <a:srgbClr val="0F172A"/>
      </a:dk1>
      <a:lt1>
        <a:srgbClr val="FFFFFF"/>
      </a:lt1>
      <a:dk2>
        <a:srgbClr val="334155"/>
      </a:dk2>
      <a:lt2>
        <a:srgbClr val="FFF7ED"/>
      </a:lt2>
      <a:accent1>
        <a:srgbClr val="2563EB"/>
      </a:accent1>
      <a:accent2>
        <a:srgbClr val="F97316"/>
      </a:accent2>
      <a:accent3>
        <a:srgbClr val="22C55E"/>
      </a:accent3>
      <a:accent4>
        <a:srgbClr val="8B5CF6"/>
      </a:accent4>
      <a:accent5>
        <a:srgbClr val="22D3EE"/>
      </a:accent5>
      <a:accent6>
        <a:srgbClr val="FB7185"/>
      </a:accent6>
      <a:hlink>
        <a:srgbClr val="2563EB"/>
      </a:hlink>
      <a:folHlink>
        <a:srgbClr val="8B5CF6"/>
      </a:folHlink>
    </a:clrScheme>
    <a:fontScheme name="CtrlTeach">
      <a:majorFont>
        <a:latin typeface="Aptos Display"/>
      </a:majorFont>
      <a:minorFont>
        <a:latin typeface="Aptos"/>
      </a:minorFont>
    </a:fontScheme>
    <a:fmtScheme name="CtrlTeach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Ctrl+Teach — Meet TARS</dc:title>
  <dc:creator>Ctrl+Teach</dc:creator>
  <cp:lastModifiedBy>Codex</cp:lastModifiedBy>
  <dcterms:created xsi:type="dcterms:W3CDTF">2026-07-10T10:22:53Z</dcterms:created>
  <dcterms:modified xsi:type="dcterms:W3CDTF">2026-07-10T10:22:53Z</dcterms:modified>
</cp:coreProperties>
</file>