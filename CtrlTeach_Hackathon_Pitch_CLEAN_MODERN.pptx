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566928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3C5FD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venir Next"/>
              </a:rPr>
              <a:t>Cprime’s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84831"/>
            <a:ext cx="9692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60A5FA"/>
                </a:solidFill>
                <a:latin typeface="Avenir Next"/>
              </a:rPr>
              <a:t>Delivered at software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06324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4E7EC"/>
                </a:solidFill>
                <a:latin typeface="Avenir Next"/>
              </a:rPr>
              <a:t>Personalized courses on demand — and a tutor that stays until the learner can do the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4251960"/>
            <a:ext cx="8001000" cy="10972"/>
          </a:xfrm>
          <a:prstGeom prst="rect">
            <a:avLst/>
          </a:prstGeom>
          <a:solidFill>
            <a:srgbClr val="344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59028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  <a:latin typeface="Avenir Next"/>
              </a:rPr>
              <a:t>BUILD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956048"/>
            <a:ext cx="24871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9C0CC"/>
                </a:solidFill>
                <a:latin typeface="Avenir Next"/>
              </a:rPr>
              <a:t>Create the learning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8144" y="4590288"/>
            <a:ext cx="10972" cy="841248"/>
          </a:xfrm>
          <a:prstGeom prst="rect">
            <a:avLst/>
          </a:prstGeom>
          <a:solidFill>
            <a:srgbClr val="344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459028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  <a:latin typeface="Avenir Next"/>
              </a:rPr>
              <a:t>IMPROVE CONTINUOUSLY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4956048"/>
            <a:ext cx="24871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9C0CC"/>
                </a:solidFill>
                <a:latin typeface="Avenir Next"/>
              </a:rPr>
              <a:t>Keep content and guidance current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2512" y="4590288"/>
            <a:ext cx="10972" cy="841248"/>
          </a:xfrm>
          <a:prstGeom prst="rect">
            <a:avLst/>
          </a:prstGeom>
          <a:solidFill>
            <a:srgbClr val="344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459028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  <a:latin typeface="Avenir Next"/>
              </a:rPr>
              <a:t>SELL REPEATEDLY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4956048"/>
            <a:ext cx="24871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9C0CC"/>
                </a:solidFill>
                <a:latin typeface="Avenir Next"/>
              </a:rPr>
              <a:t>Reach more learners with the same expertise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01  / 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Cprime already owns the hardest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2563EB"/>
                </a:solidFill>
                <a:latin typeface="Avenir Next"/>
              </a:rPr>
              <a:t>The expertise and trust to teach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10561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475467"/>
                </a:solidFill>
                <a:latin typeface="Avenir Next"/>
              </a:rPr>
              <a:t>Cprime has spent years building the expertise, instructors, partnerships, and course catalog that make great learning possible.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97180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Avenir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75887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Avenir Next"/>
              </a:rPr>
              <a:t>Already proven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160520"/>
            <a:ext cx="32186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467"/>
                </a:solidFill>
                <a:latin typeface="Avenir Next"/>
              </a:rPr>
              <a:t>Deep domain expertise, trusted trainers, and a learning brand enterprises already know.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355848"/>
            <a:ext cx="10972" cy="148132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331012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Avenir Nex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3675887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Avenir Next"/>
              </a:rPr>
              <a:t>A natural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4160520"/>
            <a:ext cx="32186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467"/>
                </a:solidFill>
                <a:latin typeface="Avenir Next"/>
              </a:rPr>
              <a:t>Reach still depends on trainer availability, group schedules, and delivery hours.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355848"/>
            <a:ext cx="10972" cy="148132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331012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Avenir Nex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675887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Avenir Next"/>
              </a:rPr>
              <a:t>The next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160520"/>
            <a:ext cx="32186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475467"/>
                </a:solidFill>
                <a:latin typeface="Avenir Next"/>
              </a:rPr>
              <a:t>Turn that knowledge into a product that reaches more people without losing the human feel.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321808"/>
            <a:ext cx="10762488" cy="7498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532120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  <a:latin typeface="Avenir Next"/>
              </a:rPr>
              <a:t>The opportunity is not to replace what works. It is to help Cprime’s knowledge travel further.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02  /  THE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Turn expertise into leverage.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475467"/>
                </a:solidFill>
                <a:latin typeface="Avenir Next"/>
              </a:rPr>
              <a:t>A learning product that gets better as it reaches more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90195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93392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venir Next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3584" y="2093976"/>
            <a:ext cx="2084831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venir Next"/>
              </a:rPr>
              <a:t>Build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6324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Create the course and tutor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3456432" y="190195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993392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venir Next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86784" y="2093976"/>
            <a:ext cx="2084831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578608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venir Next"/>
              </a:rPr>
              <a:t>Improve continuously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06324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Update once; every learner benefits.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190195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993392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venir Next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9984" y="2093976"/>
            <a:ext cx="2084831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78608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venir Next"/>
              </a:rPr>
              <a:t>Personalize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06324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Memory automatically adapts the journey to the person.</a:t>
            </a:r>
          </a:p>
        </p:txBody>
      </p:sp>
      <p:sp>
        <p:nvSpPr>
          <p:cNvPr id="22" name="Oval 21"/>
          <p:cNvSpPr/>
          <p:nvPr/>
        </p:nvSpPr>
        <p:spPr>
          <a:xfrm>
            <a:off x="8942832" y="190195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1993392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venir Nex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578608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01828"/>
                </a:solidFill>
                <a:latin typeface="Avenir Next"/>
              </a:rPr>
              <a:t>Sell repeatedly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306324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Reach new cohorts without recreating delivery.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096512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480560"/>
            <a:ext cx="106984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Avenir Next"/>
              </a:rPr>
              <a:t>Ctrl+Teach turns Cprime’s knowledge into a product it owns — one that can support thousands of learners without requiring thousands of additional delivery hours.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62356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7085"/>
                </a:solidFill>
                <a:latin typeface="Avenir Next"/>
              </a:rPr>
              <a:t>One learning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5961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Avenir Next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56235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venir Next"/>
              </a:rPr>
              <a:t>Thousands of personalized journeys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03  / 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A complete course, generated on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475467"/>
                </a:solidFill>
                <a:latin typeface="Avenir Next"/>
              </a:rPr>
              <a:t>Beautiful, credible, practical — and increasingly personal.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64792"/>
            <a:ext cx="6537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Avenir Next"/>
              </a:rPr>
              <a:t>Ctrl+Teach creates full learning journeys with beautiful visuals, credible sources, practical examples, quizzes, and hands-on browser labs.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6148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Avenir Nex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743200"/>
            <a:ext cx="2624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Avenir Next"/>
              </a:rPr>
              <a:t>Generated on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108960"/>
            <a:ext cx="2624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Start from the learner’s real goal instead of a fixed catalog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7056" y="276148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Avenir Nex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2743200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Avenir Next"/>
              </a:rPr>
              <a:t>Credible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3108960"/>
            <a:ext cx="26791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Give every lesson a trustworthy foundation and a clear trail back to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69080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Avenir Nex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050792"/>
            <a:ext cx="2624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Avenir Next"/>
              </a:rPr>
              <a:t>Built for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4416552"/>
            <a:ext cx="2624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Quizzes and real browser labs move the learner from knowing to doing.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069080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  <a:latin typeface="Avenir Nex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4050792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Avenir Next"/>
              </a:rPr>
              <a:t>Personal through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4416552"/>
            <a:ext cx="26791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The next course starts smarter because Ctrl+Teach remembers how the learner thinks.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764792"/>
            <a:ext cx="382219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53527" y="1783080"/>
            <a:ext cx="3785615" cy="31089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90688" y="1879091"/>
            <a:ext cx="68580" cy="68580"/>
          </a:xfrm>
          <a:prstGeom prst="ellipse">
            <a:avLst/>
          </a:prstGeom>
          <a:solidFill>
            <a:srgbClr val="98A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79" y="1879091"/>
            <a:ext cx="68580" cy="6858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19871" y="1879091"/>
            <a:ext cx="68580" cy="685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825496"/>
            <a:ext cx="31821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667085"/>
                </a:solidFill>
                <a:latin typeface="Avenir Next"/>
              </a:rPr>
              <a:t>INSERT PRODUCT SCREENSHOT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3108960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75467"/>
                </a:solidFill>
                <a:latin typeface="Avenir Next"/>
              </a:rPr>
              <a:t>Personalized course or learner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617720"/>
            <a:ext cx="38221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Avenir Next"/>
              </a:rPr>
              <a:t>Show visuals, sources, or the learner-memory experience.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4892040"/>
            <a:ext cx="3822191" cy="8046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7" y="50932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Avenir Next"/>
              </a:rPr>
              <a:t>A small 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5029200"/>
            <a:ext cx="21762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01828"/>
                </a:solidFill>
                <a:latin typeface="Avenir Next"/>
              </a:rPr>
              <a:t>If fitness examples click, the next lesson remembers and uses them again.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3C5FD"/>
                </a:solidFill>
                <a:latin typeface="Avenir Next"/>
              </a:rPr>
              <a:t>04  /  THE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venir Next"/>
              </a:rPr>
              <a:t>But that’s not the best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98A2B3"/>
                </a:solidFill>
                <a:latin typeface="Avenir Next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6304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EEAD4"/>
                </a:solidFill>
                <a:latin typeface="Avenir Next"/>
              </a:rPr>
              <a:t>Every learner gets TARS.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40280"/>
            <a:ext cx="5897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4E7EC"/>
                </a:solidFill>
                <a:latin typeface="Avenir Next"/>
              </a:rPr>
              <a:t>A tutor that lives beside the cursor, sees what the learner sees, understands where they are stuck, and stays throughout the learning journey.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6732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EAD4"/>
                </a:solidFill>
                <a:latin typeface="Avenir Next"/>
              </a:rPr>
              <a:t>SEES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398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E4E7EC"/>
                </a:solidFill>
                <a:latin typeface="Avenir Next"/>
              </a:rPr>
              <a:t>the learner’s current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35254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EAD4"/>
                </a:solidFill>
                <a:latin typeface="Avenir Next"/>
              </a:rPr>
              <a:t>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3251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E4E7EC"/>
                </a:solidFill>
                <a:latin typeface="Avenir Next"/>
              </a:rPr>
              <a:t>exactly where to look or 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937760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5EEAD4"/>
                </a:solidFill>
                <a:latin typeface="Avenir Next"/>
              </a:rPr>
              <a:t>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91032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E4E7EC"/>
                </a:solidFill>
                <a:latin typeface="Avenir Next"/>
              </a:rPr>
              <a:t>inside the browser when asked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9168" y="1490472"/>
            <a:ext cx="4389120" cy="3310128"/>
          </a:xfrm>
          <a:prstGeom prst="roundRect">
            <a:avLst/>
          </a:prstGeom>
          <a:solidFill>
            <a:srgbClr val="182230"/>
          </a:solidFill>
          <a:ln w="12700">
            <a:solidFill>
              <a:srgbClr val="3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77455" y="1508760"/>
            <a:ext cx="4352544" cy="310896"/>
          </a:xfrm>
          <a:prstGeom prst="rect">
            <a:avLst/>
          </a:prstGeom>
          <a:solidFill>
            <a:srgbClr val="20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14616" y="1604772"/>
            <a:ext cx="68580" cy="68580"/>
          </a:xfrm>
          <a:prstGeom prst="ellipse">
            <a:avLst/>
          </a:prstGeom>
          <a:solidFill>
            <a:srgbClr val="98A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79208" y="1604772"/>
            <a:ext cx="68580" cy="6858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43800" y="1604772"/>
            <a:ext cx="68580" cy="685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2834640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98A2B3"/>
                </a:solidFill>
                <a:latin typeface="Avenir Next"/>
              </a:rPr>
              <a:t>INSERT PRODUCT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118104"/>
            <a:ext cx="36941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4E7EC"/>
                </a:solidFill>
                <a:latin typeface="Avenir Next"/>
              </a:rPr>
              <a:t>TARS living beside the cursor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91032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8A2B3"/>
                </a:solidFill>
                <a:latin typeface="Avenir Next"/>
              </a:rPr>
              <a:t>Use the cleanest screenshot of the floating tutor.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5285232"/>
            <a:ext cx="4389120" cy="10972"/>
          </a:xfrm>
          <a:prstGeom prst="rect">
            <a:avLst/>
          </a:prstGeom>
          <a:solidFill>
            <a:srgbClr val="344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5504688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  <a:latin typeface="Avenir Next"/>
              </a:rPr>
              <a:t>“It’s the attention of a personal trainer, available to every learner.”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344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8A2B3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98A2B3"/>
                </a:solidFill>
                <a:latin typeface="Avenir Nex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05  /  THE AWS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The AWS lesson made sense. The UI had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6527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467"/>
                </a:solidFill>
                <a:latin typeface="Avenir Next"/>
              </a:rPr>
              <a:t>During Cprime training, we were asked to create an EC2 instance and deploy our app. The trainer showed it once — then we had to do it ourselves.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Avenir N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459736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venir Next"/>
              </a:rPr>
              <a:t>We forgot where to 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834640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The workflow was clear in class. The exact controls were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3346704"/>
            <a:ext cx="4800600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56616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Avenir Nex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53872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venir Next"/>
              </a:rPr>
              <a:t>We jumped between ChatGPT and 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1363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The answer said “top left.” AWS had already changed the UI.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4425696"/>
            <a:ext cx="4800600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64515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6177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venir Next"/>
              </a:rPr>
              <a:t>With TARS: hold Ctrl, point,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992624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TARS sees this screen and points to the exact next step.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450592"/>
            <a:ext cx="4645152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0568" y="2468880"/>
            <a:ext cx="4608576" cy="31089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67728" y="2564892"/>
            <a:ext cx="68580" cy="68580"/>
          </a:xfrm>
          <a:prstGeom prst="ellipse">
            <a:avLst/>
          </a:prstGeom>
          <a:solidFill>
            <a:srgbClr val="98A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0" y="2564892"/>
            <a:ext cx="68580" cy="6858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96912" y="2564892"/>
            <a:ext cx="68580" cy="685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593592"/>
            <a:ext cx="4005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667085"/>
                </a:solidFill>
                <a:latin typeface="Avenir Next"/>
              </a:rPr>
              <a:t>INSERT PRODUCT SCREENSHOT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3877056"/>
            <a:ext cx="39502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75467"/>
                </a:solidFill>
                <a:latin typeface="Avenir Next"/>
              </a:rPr>
              <a:t>TARS pointing to Launch instance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468112"/>
            <a:ext cx="46451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Avenir Next"/>
              </a:rPr>
              <a:t>Show the exact AWS control TARS grounded 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669280"/>
            <a:ext cx="1074420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815584"/>
            <a:ext cx="10222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4ED8"/>
                </a:solidFill>
                <a:latin typeface="Avenir Next"/>
              </a:rPr>
              <a:t>No screenshot loop. No stale directions. No guessing.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06  /  THE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Hold Ctrl. Point.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475467"/>
                </a:solidFill>
                <a:latin typeface="Avenir Next"/>
              </a:rPr>
              <a:t>The learner refers to the screen naturally. TARS responds in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86537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Avenir Next"/>
              </a:rPr>
              <a:t>Point, circle, or underline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221992"/>
            <a:ext cx="4526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475467"/>
                </a:solidFill>
                <a:latin typeface="Avenir Next"/>
              </a:rPr>
              <a:t>TARS understands the exact region the learner means.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9806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7614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Avenir Next"/>
              </a:rPr>
              <a:t>Ask “where do I go next?”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118104"/>
            <a:ext cx="4526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475467"/>
                </a:solidFill>
                <a:latin typeface="Avenir Next"/>
              </a:rPr>
              <a:t>TARS points to the control on the current screen.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94176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6576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Avenir Next"/>
              </a:rPr>
              <a:t>Need a visual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014215"/>
            <a:ext cx="4526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475467"/>
                </a:solidFill>
                <a:latin typeface="Avenir Next"/>
              </a:rPr>
              <a:t>TARS draws directly over the page.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59028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55371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01828"/>
                </a:solidFill>
                <a:latin typeface="Avenir Next"/>
              </a:rPr>
              <a:t>Get stuck mid-workflow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910327"/>
            <a:ext cx="4526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475467"/>
                </a:solidFill>
                <a:latin typeface="Avenir Next"/>
              </a:rPr>
              <a:t>TARS can scroll, switch tabs, and navigate with permission.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856231"/>
            <a:ext cx="4956048" cy="3072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7" y="1874519"/>
            <a:ext cx="4919472" cy="31089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47688" y="1970531"/>
            <a:ext cx="68580" cy="68580"/>
          </a:xfrm>
          <a:prstGeom prst="ellipse">
            <a:avLst/>
          </a:prstGeom>
          <a:solidFill>
            <a:srgbClr val="98A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2279" y="1970531"/>
            <a:ext cx="68580" cy="6858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76872" y="1970531"/>
            <a:ext cx="68580" cy="685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79" y="3081528"/>
            <a:ext cx="431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667085"/>
                </a:solidFill>
                <a:latin typeface="Avenir Next"/>
              </a:rPr>
              <a:t>INSERT PRODUCT SCREENSHOT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3364992"/>
            <a:ext cx="42611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75467"/>
                </a:solidFill>
                <a:latin typeface="Avenir Next"/>
              </a:rPr>
              <a:t>Ctrl gesture, circle, or screen drawing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38344"/>
            <a:ext cx="4956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Avenir Next"/>
              </a:rPr>
              <a:t>Show the trail and the part of the screen TARS understands.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2852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67085"/>
                </a:solidFill>
                <a:latin typeface="Avenir Next"/>
              </a:rPr>
              <a:t>WORKS INSIDE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596128"/>
            <a:ext cx="6583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687568"/>
            <a:ext cx="658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475467"/>
                </a:solidFill>
                <a:latin typeface="Avenir Next"/>
              </a:rPr>
              <a:t>AWS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5596128"/>
            <a:ext cx="6583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5687568"/>
            <a:ext cx="658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475467"/>
                </a:solidFill>
                <a:latin typeface="Avenir Next"/>
              </a:rPr>
              <a:t>JIRA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5596128"/>
            <a:ext cx="83210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1583" y="5687568"/>
            <a:ext cx="8321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475467"/>
                </a:solidFill>
                <a:latin typeface="Avenir Next"/>
              </a:rPr>
              <a:t>GITHUB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9992" y="5596128"/>
            <a:ext cx="117957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992" y="5687568"/>
            <a:ext cx="11795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475467"/>
                </a:solidFill>
                <a:latin typeface="Avenir Next"/>
              </a:rPr>
              <a:t>SERVICENOW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05872" y="5596128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5872" y="5687568"/>
            <a:ext cx="10058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475467"/>
                </a:solidFill>
                <a:latin typeface="Avenir Next"/>
              </a:rPr>
              <a:t>POWER BI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07  /  LIVE CLASSROOM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A live classroom for one learner.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475467"/>
                </a:solidFill>
                <a:latin typeface="Avenir Next"/>
              </a:rPr>
              <a:t>The feel of a real tutor, with attention focused on the person in front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REGULAR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76272"/>
            <a:ext cx="5577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0" i="0">
                <a:solidFill>
                  <a:srgbClr val="101828"/>
                </a:solidFill>
                <a:latin typeface="Avenir Next"/>
              </a:rPr>
              <a:t>Read lessons, explore examples, take quizzes, and ask quick questions.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79776"/>
            <a:ext cx="559612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4436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Avenir Next"/>
              </a:rPr>
              <a:t>LIVE CLASSROOM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73551"/>
            <a:ext cx="5577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0" i="0">
                <a:solidFill>
                  <a:srgbClr val="101828"/>
                </a:solidFill>
                <a:latin typeface="Avenir Next"/>
              </a:rPr>
              <a:t>Talk naturally while TARS explains on a whiteboard and draws diagrams in real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877056"/>
            <a:ext cx="559612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4164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Avenir Next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370832"/>
            <a:ext cx="5577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101828"/>
                </a:solidFill>
                <a:latin typeface="Avenir Next"/>
              </a:rPr>
              <a:t>TARS watches the learner apply the lesson, steps in when needed, and never judges the mistake.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1847088"/>
            <a:ext cx="4663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03136" y="1865376"/>
            <a:ext cx="4626864" cy="31089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0296" y="1961388"/>
            <a:ext cx="68580" cy="68580"/>
          </a:xfrm>
          <a:prstGeom prst="ellipse">
            <a:avLst/>
          </a:prstGeom>
          <a:solidFill>
            <a:srgbClr val="98A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04888" y="1961388"/>
            <a:ext cx="68580" cy="68580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9480" y="1961388"/>
            <a:ext cx="68580" cy="685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4888" y="3159252"/>
            <a:ext cx="4023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667085"/>
                </a:solidFill>
                <a:latin typeface="Avenir Next"/>
              </a:rPr>
              <a:t>INSERT PRODUCT SCREENSHOT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442716"/>
            <a:ext cx="39684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75467"/>
                </a:solidFill>
                <a:latin typeface="Avenir Next"/>
              </a:rPr>
              <a:t>Live Classroom whiteboard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5202936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Avenir Next"/>
              </a:rPr>
              <a:t>Show TARS teaching, drawing, or explaining live.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413248"/>
            <a:ext cx="10735056" cy="6400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605272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D9488"/>
                </a:solidFill>
                <a:latin typeface="Avenir Next"/>
              </a:rPr>
              <a:t>Ask twice. Make mistakes. Learn without judgment.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08  /  FROM LEARNING TO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It stays when the lesson 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475467"/>
                </a:solidFill>
                <a:latin typeface="Avenir Next"/>
              </a:rPr>
              <a:t>TARS stays while the learner implements what they just learned inside the real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04872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venir Next"/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9504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Source-backed lesson and explanation.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944" y="2450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D0D5DD"/>
                </a:solidFill>
                <a:latin typeface="Avenir Next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01168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404872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venir Next"/>
              </a:rPr>
              <a:t>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889504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A browser lab opens the real platform.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2450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D0D5DD"/>
                </a:solidFill>
                <a:latin typeface="Avenir Nex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01168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404872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venir Next"/>
              </a:rPr>
              <a:t>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889504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TARS monitors progress and collects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450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D0D5DD"/>
                </a:solidFill>
                <a:latin typeface="Avenir Next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01168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2404872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venir Next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889504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The backend confirms the task and cleanup.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968496"/>
            <a:ext cx="10735056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407408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Avenir Next"/>
              </a:rPr>
              <a:t>A lab completes only when the task is correct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864608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Avenir Next"/>
              </a:rPr>
              <a:t>and every required cleanup step is confirmed.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44074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67085"/>
                </a:solidFill>
                <a:latin typeface="Avenir Next"/>
              </a:rPr>
              <a:t>Learners move from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475488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475467"/>
                </a:solidFill>
                <a:latin typeface="Avenir Next"/>
              </a:rPr>
              <a:t>“I watched the training”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5230368"/>
            <a:ext cx="4315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venir Next"/>
              </a:rPr>
              <a:t>to  “I can actually do the work.”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09  /  IMPACT &amp;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Cprime’s expertise becomes a product it owns.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475467"/>
                </a:solidFill>
                <a:latin typeface="Avenir Next"/>
              </a:rPr>
              <a:t>Expert-led learning remains the foundation. Ctrl+Teach adds a scalable layer on 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Avenir Next"/>
              </a:rPr>
              <a:t>Here’s the uncomfortable truth: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523036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01828"/>
                </a:solidFill>
                <a:latin typeface="Avenir Next"/>
              </a:rPr>
              <a:t>A training business that grows only by adding trainers will always be limited by people, schedules, and delivery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67328"/>
            <a:ext cx="52303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475467"/>
                </a:solidFill>
                <a:latin typeface="Avenir Next"/>
              </a:rPr>
              <a:t>Tools change faster than traditional courses can be updated, and learners cannot wait for the next classroom session when they get stuck.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182880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18105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2563EB"/>
                </a:solidFill>
                <a:latin typeface="Avenir Next"/>
              </a:rPr>
              <a:t>LOWER DELIVERY 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2139696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Support more learners without delivery capacity growing at the same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79806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2779776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2563EB"/>
                </a:solidFill>
                <a:latin typeface="Avenir Next"/>
              </a:rPr>
              <a:t>RECURRING PRODUCT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08960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Sell a product Cprime owns instead of rebuilding every experience from scratch.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7673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74904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2563EB"/>
                </a:solidFill>
                <a:latin typeface="Avenir Next"/>
              </a:rPr>
              <a:t>FASTER COURSE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4078224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Improve the core once and carry the change into future learning journeys.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73659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71830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2563EB"/>
                </a:solidFill>
                <a:latin typeface="Avenir Next"/>
              </a:rPr>
              <a:t>INDIVIDUAL ATTENTION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5047488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75467"/>
                </a:solidFill>
                <a:latin typeface="Avenir Next"/>
              </a:rPr>
              <a:t>Give each learner memory, context, and help at the moment of need.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0735056" cy="53035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79008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venir Next"/>
              </a:rPr>
              <a:t>Created once. Personalized automatically. Sold repeatedly.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393192"/>
            <a:ext cx="50292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7490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10  /  PRODUCT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22376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Avenir Next"/>
              </a:rPr>
              <a:t>Build it once. Sell it thousands of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475467"/>
                </a:solidFill>
                <a:latin typeface="Avenir Next"/>
              </a:rPr>
              <a:t>A product that carries Cprime’s expertise further — and compounds with every improvement.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9319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67085"/>
                </a:solidFill>
                <a:latin typeface="Avenir Next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Avenir Next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17520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467"/>
                </a:solidFill>
                <a:latin typeface="Avenir Next"/>
              </a:rPr>
              <a:t>Cprime’s experts shape the knowledge, standards, and learning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938528"/>
            <a:ext cx="10972" cy="2139696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938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45059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Avenir Next"/>
              </a:rPr>
              <a:t>PERSONALIZE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017520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467"/>
                </a:solidFill>
                <a:latin typeface="Avenir Next"/>
              </a:rPr>
              <a:t>Ctrl+Teach adapts the course and tutor to the learner’s memory and progress.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938528"/>
            <a:ext cx="10972" cy="2139696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938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Avenir Nex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45059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Avenir Next"/>
              </a:rPr>
              <a:t>COMPOUND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3017520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467"/>
                </a:solidFill>
                <a:latin typeface="Avenir Next"/>
              </a:rPr>
              <a:t>Every content update and tutor improvement benefits the next learner.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443984"/>
            <a:ext cx="10735056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809744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venir Next"/>
              </a:rPr>
              <a:t>This could become Cprime’s first truly scalable learning product.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40680"/>
            <a:ext cx="10332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467"/>
                </a:solidFill>
                <a:latin typeface="Avenir Next"/>
              </a:rPr>
              <a:t>Not another video library — a tutor carrying Cprime’s knowledge and staying until the learner can do it alone.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6446520"/>
            <a:ext cx="10762488" cy="10972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528816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667085"/>
                </a:solidFill>
                <a:latin typeface="Avenir Next"/>
              </a:rPr>
              <a:t>CTRL+TEACH  /  HACKATHON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67085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566928"/>
            <a:ext cx="54864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EEAD4"/>
                </a:solidFill>
                <a:latin typeface="Avenir Next"/>
              </a:rPr>
              <a:t>CTRL+TEACH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424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venir Next"/>
              </a:rPr>
              <a:t>The future of learning will not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84831"/>
            <a:ext cx="10424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60A5FA"/>
                </a:solidFill>
                <a:latin typeface="Avenir Next"/>
              </a:rPr>
              <a:t>another video library.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944368"/>
            <a:ext cx="10716768" cy="10972"/>
          </a:xfrm>
          <a:prstGeom prst="rect">
            <a:avLst/>
          </a:prstGeom>
          <a:solidFill>
            <a:srgbClr val="344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429000"/>
            <a:ext cx="9875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venir Next"/>
              </a:rPr>
              <a:t>It will be a tutor that stays beside you until you can do it yourself.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9834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9C0CC"/>
                </a:solidFill>
                <a:latin typeface="Avenir Next"/>
              </a:rPr>
              <a:t>Courses that adapt.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49834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9C0CC"/>
                </a:solidFill>
                <a:latin typeface="Avenir Next"/>
              </a:rPr>
              <a:t>A tutor that 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49834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Avenir Next"/>
              </a:rPr>
              <a:t>Learning that proves itself.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7161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98A2B3"/>
                </a:solidFill>
                <a:latin typeface="Avenir Next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Ctrl+Teach — Clean Modern Hackathon Pitch</dc:title>
  <dc:subject>Cprime scalable learning product pitch</dc:subject>
  <dc:creator>Ctrl+Teach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